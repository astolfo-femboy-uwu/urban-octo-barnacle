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Layouts/slideLayout17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12192000" cy="6858000"/>
  <p:defaultTextStyle>
    <a:defPPr>
      <a:defRPr lang="en-US"/>
    </a:defPPr>
    <a:lvl1pPr marL="0" algn="l" defTabSz="4572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11" d="100"/>
          <a:sy n="111" d="100"/>
        </p:scale>
        <p:origin x="582" y="102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Титульный слайд">
    <p:bg>
      <p:bgRef idx="1003">
        <a:schemeClr val="bg2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8932558" y="5870575"/>
            <a:ext cx="1600200" cy="377825"/>
          </a:xfrm>
        </p:spPr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962399" y="5870575"/>
            <a:ext cx="4893958" cy="377825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0608958" y="5870575"/>
            <a:ext cx="551167" cy="377825"/>
          </a:xfrm>
        </p:spPr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/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 anchor="ctr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5821895" y="2142067"/>
            <a:ext cx="4995332" cy="3649132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096003" y="2226734"/>
            <a:ext cx="4722812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4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>
              <a:defRPr/>
            </a:pPr>
            <a:r>
              <a:rPr lang="ru-RU"/>
              <a:t>Вставка рисунка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Панорамная фотография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>
              <a:defRPr/>
            </a:pPr>
            <a:r>
              <a:rPr lang="ru-RU"/>
              <a:t>Вставка рисунка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85800" y="5299602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Заголовок и подпись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Цитата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 bwMode="auto">
          <a:xfrm>
            <a:off x="10237867" y="2743200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ts val="0"/>
              </a:spcBef>
              <a:buNone/>
              <a:defRPr sz="3200" b="0" cap="all">
                <a:ln w="3175" cmpd="sng">
                  <a:noFill/>
                </a:ln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>
              <a:defRPr/>
            </a:pPr>
            <a:r>
              <a:rPr lang="en-US" sz="8000">
                <a:solidFill>
                  <a:schemeClr val="tx1"/>
                </a:solidFill>
              </a:rPr>
              <a:t>”</a:t>
            </a:r>
            <a:endParaRPr/>
          </a:p>
        </p:txBody>
      </p:sp>
      <p:sp>
        <p:nvSpPr>
          <p:cNvPr id="11" name="TextBox 10"/>
          <p:cNvSpPr txBox="1"/>
          <p:nvPr/>
        </p:nvSpPr>
        <p:spPr bwMode="auto">
          <a:xfrm>
            <a:off x="488275" y="823337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ts val="0"/>
              </a:spcBef>
              <a:buNone/>
              <a:defRPr sz="3200" b="0" cap="all">
                <a:ln w="3175" cmpd="sng">
                  <a:noFill/>
                </a:ln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>
              <a:defRPr/>
            </a:pPr>
            <a:r>
              <a:rPr lang="en-US" sz="8000">
                <a:solidFill>
                  <a:schemeClr val="tx1"/>
                </a:solidFill>
              </a:rPr>
              <a:t>“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 bwMode="auto"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Карточка имен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Цитата карточки имен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 bwMode="auto">
          <a:xfrm>
            <a:off x="10237867" y="2743200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ts val="0"/>
              </a:spcBef>
              <a:buNone/>
              <a:defRPr sz="3200" b="0" cap="all">
                <a:ln w="3175" cmpd="sng">
                  <a:noFill/>
                </a:ln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>
              <a:defRPr/>
            </a:pPr>
            <a:r>
              <a:rPr lang="en-US" sz="8000">
                <a:solidFill>
                  <a:schemeClr val="tx1"/>
                </a:solidFill>
              </a:rPr>
              <a:t>”</a:t>
            </a:r>
            <a:endParaRPr/>
          </a:p>
        </p:txBody>
      </p:sp>
      <p:sp>
        <p:nvSpPr>
          <p:cNvPr id="14" name="TextBox 13"/>
          <p:cNvSpPr txBox="1"/>
          <p:nvPr/>
        </p:nvSpPr>
        <p:spPr bwMode="auto">
          <a:xfrm>
            <a:off x="488275" y="823337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ts val="0"/>
              </a:spcBef>
              <a:buNone/>
              <a:defRPr sz="3200" b="0" cap="all">
                <a:ln w="3175" cmpd="sng">
                  <a:noFill/>
                </a:ln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>
              <a:defRPr/>
            </a:pPr>
            <a:r>
              <a:rPr lang="en-US" sz="8000">
                <a:solidFill>
                  <a:schemeClr val="tx1"/>
                </a:solidFill>
              </a:rPr>
              <a:t>“</a:t>
            </a:r>
            <a:endParaRPr/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 bwMode="auto"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 bwMode="auto"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>
                <a:ln w="3175" cmpd="sng">
                  <a:noFill/>
                </a:ln>
                <a:solidFill>
                  <a:schemeClr val="tx1"/>
                </a:solidFill>
              </a:defRPr>
            </a:lvl1pPr>
          </a:lstStyle>
          <a:p>
            <a:pPr marL="0" lvl="0">
              <a:spcBef>
                <a:spcPts val="0"/>
              </a:spcBef>
              <a:buNone/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Истина или ложь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/>
            </a:lvl1pPr>
          </a:lstStyle>
          <a:p>
            <a:pPr marL="0" lvl="0"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 bwMode="auto">
          <a:xfrm>
            <a:off x="685801" y="3505199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>
                <a:ln w="3175" cmpd="sng">
                  <a:noFill/>
                </a:ln>
                <a:solidFill>
                  <a:schemeClr val="tx1"/>
                </a:solidFill>
              </a:defRPr>
            </a:lvl1pPr>
          </a:lstStyle>
          <a:p>
            <a:pPr marL="0" lvl="0">
              <a:spcBef>
                <a:spcPts val="0"/>
              </a:spcBef>
              <a:buNone/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 anchor="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/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 bwMode="auto">
          <a:xfrm>
            <a:off x="685801" y="609600"/>
            <a:ext cx="10131425" cy="1456267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658675" y="609599"/>
            <a:ext cx="2158552" cy="5181601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3">
        <a:schemeClr val="bg2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5801" y="2142067"/>
            <a:ext cx="10131425" cy="36491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B61BEF0D-F0BB-DE4B-95CE-6DB70DBA9567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D57F1E4F-1CFF-5643-939E-217C01CDF565}" type="slidenum">
              <a:rPr lang="en-US"/>
              <a:t/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457200">
        <a:spcBef>
          <a:spcPts val="0"/>
        </a:spcBef>
        <a:buNone/>
        <a:defRPr sz="3600" cap="all">
          <a:ln w="3175" cmpd="sng">
            <a:noFill/>
          </a:ln>
          <a:solidFill>
            <a:schemeClr val="tx1"/>
          </a:solidFill>
          <a:latin typeface="+mj-lt"/>
          <a:ea typeface="+mj-ea"/>
          <a:cs typeface="+mj-cs"/>
        </a:defRPr>
      </a:lvl1pPr>
      <a:lvl2pPr>
        <a:defRPr>
          <a:solidFill>
            <a:schemeClr val="tx2"/>
          </a:solidFill>
        </a:defRPr>
      </a:lvl2pPr>
      <a:lvl3pPr>
        <a:defRPr>
          <a:solidFill>
            <a:schemeClr val="tx2"/>
          </a:solidFill>
        </a:defRPr>
      </a:lvl3pPr>
      <a:lvl4pPr>
        <a:defRPr>
          <a:solidFill>
            <a:schemeClr val="tx2"/>
          </a:solidFill>
        </a:defRPr>
      </a:lvl4pPr>
      <a:lvl5pPr>
        <a:defRPr>
          <a:solidFill>
            <a:schemeClr val="tx2"/>
          </a:solidFill>
        </a:defRPr>
      </a:lvl5pPr>
      <a:lvl6pPr>
        <a:defRPr>
          <a:solidFill>
            <a:schemeClr val="tx2"/>
          </a:solidFill>
        </a:defRPr>
      </a:lvl6pPr>
      <a:lvl7pPr>
        <a:defRPr>
          <a:solidFill>
            <a:schemeClr val="tx2"/>
          </a:solidFill>
        </a:defRPr>
      </a:lvl7pPr>
      <a:lvl8pPr>
        <a:defRPr>
          <a:solidFill>
            <a:schemeClr val="tx2"/>
          </a:solidFill>
        </a:defRPr>
      </a:lvl8pPr>
      <a:lvl9pPr>
        <a:defRPr>
          <a:solidFill>
            <a:schemeClr val="tx2"/>
          </a:solidFill>
        </a:defRPr>
      </a:lvl9pPr>
    </p:titleStyle>
    <p:bodyStyle>
      <a:lvl1pPr marL="285750" indent="-285750" algn="l" defTabSz="45720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cap="none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cap="none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85750" algn="l" defTabSz="45720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cap="none">
          <a:solidFill>
            <a:schemeClr val="tx1"/>
          </a:solidFill>
          <a:latin typeface="+mn-lt"/>
          <a:ea typeface="+mn-ea"/>
          <a:cs typeface="+mn-cs"/>
        </a:defRPr>
      </a:lvl3pPr>
      <a:lvl4pPr marL="1543050" indent="-171450" algn="l" defTabSz="45720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cap="none">
          <a:solidFill>
            <a:schemeClr val="tx1"/>
          </a:solidFill>
          <a:latin typeface="+mn-lt"/>
          <a:ea typeface="+mn-ea"/>
          <a:cs typeface="+mn-cs"/>
        </a:defRPr>
      </a:lvl4pPr>
      <a:lvl5pPr marL="2000250" indent="-171450" algn="l" defTabSz="45720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cap="none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cap="none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cap="none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cap="none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cap="none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jp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Relationship Id="rId4" Type="http://schemas.openxmlformats.org/officeDocument/2006/relationships/image" Target="../media/image20.jpg"/><Relationship Id="rId5" Type="http://schemas.openxmlformats.org/officeDocument/2006/relationships/image" Target="../media/image21.jpg"/><Relationship Id="rId6" Type="http://schemas.openxmlformats.org/officeDocument/2006/relationships/image" Target="../media/image22.jp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jpg"/><Relationship Id="rId3" Type="http://schemas.openxmlformats.org/officeDocument/2006/relationships/hyperlink" Target="https://github.com/victoria-lichiko22/cooki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949569" y="1280428"/>
            <a:ext cx="8543025" cy="1835583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ru-RU">
                <a:latin typeface="+mn-lt"/>
              </a:rPr>
              <a:t>Телеграм бот</a:t>
            </a:r>
            <a:br>
              <a:rPr lang="ru-RU">
                <a:latin typeface="+mn-lt"/>
              </a:rPr>
            </a:br>
            <a:r>
              <a:rPr lang="ru-RU">
                <a:latin typeface="+mn-lt"/>
              </a:rPr>
              <a:t>«печенье с предсказаниями»</a:t>
            </a:r>
            <a:endParaRPr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6221082" y="3868957"/>
            <a:ext cx="5579853" cy="1817466"/>
          </a:xfrm>
        </p:spPr>
        <p:txBody>
          <a:bodyPr>
            <a:noAutofit/>
          </a:bodyPr>
          <a:lstStyle/>
          <a:p>
            <a:pPr algn="l">
              <a:lnSpc>
                <a:spcPts val="4249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000" cap="none"/>
              <a:t>Разработали: ученицы 10 А класса</a:t>
            </a:r>
            <a:br>
              <a:rPr lang="ru-RU" sz="2000" cap="none"/>
            </a:br>
            <a:r>
              <a:rPr lang="ru-RU" sz="2000" cap="none"/>
              <a:t>Мифтахова</a:t>
            </a:r>
            <a:r>
              <a:rPr lang="ru-RU" sz="2000" cap="none"/>
              <a:t> Виктория</a:t>
            </a:r>
            <a:r>
              <a:rPr lang="en-US" sz="2000" cap="none"/>
              <a:t>,</a:t>
            </a:r>
            <a:r>
              <a:rPr lang="ru-RU" sz="2000" cap="none"/>
              <a:t> Меркулова </a:t>
            </a:r>
            <a:r>
              <a:rPr lang="ru-RU" sz="2000" cap="none"/>
              <a:t>Анастасия, </a:t>
            </a:r>
            <a:endParaRPr sz="2000" cap="none"/>
          </a:p>
          <a:p>
            <a:pPr algn="l">
              <a:lnSpc>
                <a:spcPts val="4249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000" cap="none"/>
              <a:t>Руководитель: </a:t>
            </a:r>
            <a:r>
              <a:rPr lang="ru-RU" sz="2000" cap="none"/>
              <a:t>Дементьева Ирина Николаевна</a:t>
            </a:r>
            <a:endParaRPr lang="ru-RU" sz="2000" cap="none"/>
          </a:p>
          <a:p>
            <a:pPr algn="l">
              <a:lnSpc>
                <a:spcPts val="4249"/>
              </a:lnSpc>
              <a:spcBef>
                <a:spcPts val="0"/>
              </a:spcBef>
              <a:spcAft>
                <a:spcPts val="0"/>
              </a:spcAft>
              <a:defRPr/>
            </a:pPr>
            <a:endParaRPr sz="2000" cap="none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672653" y="270356"/>
            <a:ext cx="1138896" cy="1183268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 bwMode="auto">
          <a:xfrm>
            <a:off x="1696932" y="199758"/>
            <a:ext cx="958929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800" b="0" i="0" u="none" strike="noStrike"/>
              <a:t>Государственное бюджетное общеобразовательное учреждение города Москвы "Школа №1287"</a:t>
            </a:r>
            <a:endParaRPr lang="ru-RU" sz="2800"/>
          </a:p>
        </p:txBody>
      </p:sp>
      <p:sp>
        <p:nvSpPr>
          <p:cNvPr id="7" name="TextBox 6"/>
          <p:cNvSpPr txBox="1"/>
          <p:nvPr/>
        </p:nvSpPr>
        <p:spPr bwMode="auto">
          <a:xfrm>
            <a:off x="0" y="6189852"/>
            <a:ext cx="121919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000" b="0" i="0" u="none" strike="noStrike"/>
              <a:t>Москва, 202</a:t>
            </a:r>
            <a:r>
              <a:rPr lang="en-US" sz="2000" b="0" i="0" u="none" strike="noStrike"/>
              <a:t>4</a:t>
            </a:r>
            <a:endParaRPr lang="ru-RU" sz="2000"/>
          </a:p>
        </p:txBody>
      </p:sp>
      <p:sp>
        <p:nvSpPr>
          <p:cNvPr id="8" name="TextBox 7"/>
          <p:cNvSpPr txBox="1"/>
          <p:nvPr/>
        </p:nvSpPr>
        <p:spPr bwMode="auto">
          <a:xfrm flipH="0" flipV="0">
            <a:off x="2269126" y="3018967"/>
            <a:ext cx="8119772" cy="488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600" cap="none"/>
              <a:t>Номинация: «Программный проект»</a:t>
            </a:r>
            <a:endParaRPr sz="2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>
                <a:latin typeface="+mn-lt"/>
              </a:rPr>
              <a:t>Актуальность темы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685801" y="1710047"/>
            <a:ext cx="10820398" cy="421574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 marL="0" indent="450000" algn="l">
              <a:lnSpc>
                <a:spcPts val="4249"/>
              </a:lnSpc>
              <a:spcBef>
                <a:spcPts val="0"/>
              </a:spcBef>
              <a:spcAft>
                <a:spcPts val="999"/>
              </a:spcAft>
              <a:buNone/>
              <a:defRPr/>
            </a:pPr>
            <a:r>
              <a:rPr lang="ru-RU" sz="2000" b="0" i="0" u="none" strike="noStrike"/>
              <a:t>В современном мире, где информационные технологии становятся неотъемлемой частью повседневной жизни, разработка Телеграмм ботов и веб-сайтов становится ключевой стратегией для эффективного взаимодействия с аудиторией и оптимизации бизнес-процессов в различных компаниях. Телеграмм боты обеспечивают мгновенный доступ к информации, автоматизацию поддержки и улучшение клиентского опыта, а веб-сайты продолжают быть важным каналом представления продуктов и услуг. Их совместное использование обеспечивает компаниям эффективные инструменты для поддержания высокого уровня сервиса и конкурентоспособности в цифровой среде. 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>
                <a:latin typeface="+mn-lt"/>
              </a:rPr>
              <a:t>Цель проекта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685800" y="1976331"/>
            <a:ext cx="9235439" cy="91202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25000" lnSpcReduction="15000"/>
          </a:bodyPr>
          <a:lstStyle/>
          <a:p>
            <a:pPr marL="0" indent="450000" algn="l">
              <a:lnSpc>
                <a:spcPct val="150000"/>
              </a:lnSpc>
              <a:spcBef>
                <a:spcPts val="0"/>
              </a:spcBef>
              <a:spcAft>
                <a:spcPts val="999"/>
              </a:spcAft>
              <a:buNone/>
              <a:defRPr/>
            </a:pPr>
            <a:r>
              <a:rPr lang="ru-RU" sz="8000">
                <a:ea typeface="Times New Roman"/>
              </a:rPr>
              <a:t>Создание </a:t>
            </a:r>
            <a:r>
              <a:rPr lang="ru-RU" sz="8000">
                <a:ea typeface="Times New Roman"/>
              </a:rPr>
              <a:t>собственного чат-бота, который будет предлагать пользователям предсказание на день, по аналогии с </a:t>
            </a:r>
            <a:r>
              <a:rPr lang="ru-MO" sz="8000">
                <a:ea typeface="Times New Roman"/>
              </a:rPr>
              <a:t>печеньками </a:t>
            </a:r>
            <a:r>
              <a:rPr lang="ru-RU" sz="8000">
                <a:ea typeface="Times New Roman"/>
              </a:rPr>
              <a:t>с предсказанием с использованием </a:t>
            </a:r>
            <a:r>
              <a:rPr lang="en-IN" sz="8000">
                <a:ea typeface="Times New Roman"/>
              </a:rPr>
              <a:t>Telegram </a:t>
            </a:r>
            <a:r>
              <a:rPr lang="en-US" sz="8000">
                <a:ea typeface="Times New Roman"/>
              </a:rPr>
              <a:t>Web</a:t>
            </a:r>
            <a:r>
              <a:rPr lang="ru-RU" sz="8000">
                <a:ea typeface="Times New Roman"/>
              </a:rPr>
              <a:t> </a:t>
            </a:r>
            <a:r>
              <a:rPr lang="ru-RU" sz="8000">
                <a:ea typeface="Times New Roman"/>
              </a:rPr>
              <a:t>A</a:t>
            </a:r>
            <a:r>
              <a:rPr lang="en-US" sz="8000">
                <a:ea typeface="Times New Roman"/>
              </a:rPr>
              <a:t>pp API</a:t>
            </a:r>
            <a:r>
              <a:rPr lang="ru-RU" sz="8000">
                <a:ea typeface="Times New Roman"/>
              </a:rPr>
              <a:t>.</a:t>
            </a:r>
            <a:endParaRPr sz="8000"/>
          </a:p>
        </p:txBody>
      </p:sp>
      <p:sp>
        <p:nvSpPr>
          <p:cNvPr id="4" name="Заголовок 1"/>
          <p:cNvSpPr txBox="1"/>
          <p:nvPr/>
        </p:nvSpPr>
        <p:spPr bwMode="auto">
          <a:xfrm>
            <a:off x="685801" y="2837349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>
              <a:spcBef>
                <a:spcPts val="0"/>
              </a:spcBef>
              <a:buNone/>
              <a:defRPr sz="3600" cap="all">
                <a:ln w="3175" cmpd="sng"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ru-RU">
                <a:latin typeface="+mn-lt"/>
              </a:rPr>
              <a:t>Задачи</a:t>
            </a:r>
            <a:endParaRPr/>
          </a:p>
        </p:txBody>
      </p:sp>
      <p:sp>
        <p:nvSpPr>
          <p:cNvPr id="5" name="Объект 2"/>
          <p:cNvSpPr txBox="1"/>
          <p:nvPr/>
        </p:nvSpPr>
        <p:spPr bwMode="auto">
          <a:xfrm>
            <a:off x="685800" y="3956896"/>
            <a:ext cx="9848087" cy="22907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45720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defTabSz="45720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defTabSz="45720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50000"/>
              </a:lnSpc>
              <a:spcBef>
                <a:spcPts val="0"/>
              </a:spcBef>
              <a:spcAft>
                <a:spcPts val="999"/>
              </a:spcAft>
              <a:buFont typeface="+mj-lt"/>
              <a:buAutoNum type="arabicPeriod"/>
              <a:defRPr/>
            </a:pPr>
            <a:r>
              <a:rPr lang="ru-RU" sz="2000">
                <a:ea typeface="Times New Roman"/>
              </a:rPr>
              <a:t>Изучить </a:t>
            </a:r>
            <a:r>
              <a:rPr lang="en" sz="2000">
                <a:ea typeface="Times New Roman"/>
              </a:rPr>
              <a:t>Telegram API </a:t>
            </a:r>
            <a:r>
              <a:rPr lang="ru-RU" sz="2000">
                <a:ea typeface="Times New Roman"/>
              </a:rPr>
              <a:t>и предоставляемые им методы для создания ботов.</a:t>
            </a:r>
            <a:endParaRPr sz="2200"/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spcAft>
                <a:spcPts val="999"/>
              </a:spcAft>
              <a:buFont typeface="+mj-lt"/>
              <a:buAutoNum type="arabicPeriod"/>
              <a:defRPr/>
            </a:pPr>
            <a:r>
              <a:rPr lang="ru-RU" sz="2000">
                <a:ea typeface="Times New Roman"/>
              </a:rPr>
              <a:t>Создать </a:t>
            </a:r>
            <a:r>
              <a:rPr lang="en" sz="2000">
                <a:ea typeface="Times New Roman"/>
              </a:rPr>
              <a:t>Telegram Web </a:t>
            </a:r>
            <a:r>
              <a:rPr lang="ru-RU" sz="2000">
                <a:ea typeface="Times New Roman"/>
              </a:rPr>
              <a:t>приложение, которое будет взаимодействовать с пользователями и предоставлять им предсказания.</a:t>
            </a:r>
            <a:endParaRPr sz="2200"/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spcAft>
                <a:spcPts val="999"/>
              </a:spcAft>
              <a:buFont typeface="+mj-lt"/>
              <a:buAutoNum type="arabicPeriod"/>
              <a:defRPr/>
            </a:pPr>
            <a:r>
              <a:rPr lang="ru-RU" sz="2000">
                <a:ea typeface="Times New Roman"/>
              </a:rPr>
              <a:t>Разместить приложения на хостинге, чтобы обеспечить бесперебойную работу бота.</a:t>
            </a:r>
            <a:endParaRPr sz="2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>
                <a:latin typeface="+mn-lt"/>
              </a:rPr>
              <a:t>Этапы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685801" y="1776306"/>
            <a:ext cx="9509759" cy="4405037"/>
          </a:xfrm>
        </p:spPr>
        <p:txBody>
          <a:bodyPr>
            <a:normAutofit/>
          </a:bodyPr>
          <a:lstStyle/>
          <a:p>
            <a:pPr marL="342900" lvl="0" indent="-342900" algn="l">
              <a:lnSpc>
                <a:spcPct val="150000"/>
              </a:lnSpc>
              <a:buFont typeface="Symbol"/>
              <a:buChar char=""/>
              <a:tabLst>
                <a:tab pos="90170" algn="l"/>
                <a:tab pos="450850" algn="l"/>
                <a:tab pos="541020" algn="l"/>
                <a:tab pos="631190" algn="l"/>
              </a:tabLst>
              <a:defRPr/>
            </a:pPr>
            <a:r>
              <a:rPr lang="ru-RU" sz="2000">
                <a:ea typeface="Times New Roman"/>
                <a:cs typeface="Times New Roman"/>
              </a:rPr>
              <a:t>Создать </a:t>
            </a:r>
            <a:r>
              <a:rPr lang="en-US" sz="2000">
                <a:ea typeface="Times New Roman"/>
                <a:cs typeface="Times New Roman"/>
              </a:rPr>
              <a:t>web</a:t>
            </a:r>
            <a:r>
              <a:rPr lang="ru-RU" sz="2000">
                <a:ea typeface="Times New Roman"/>
                <a:cs typeface="Times New Roman"/>
              </a:rPr>
              <a:t> приложение и интегрировать его в </a:t>
            </a:r>
            <a:r>
              <a:rPr lang="en-US" sz="2000">
                <a:ea typeface="Times New Roman"/>
                <a:cs typeface="Times New Roman"/>
              </a:rPr>
              <a:t>Telegram</a:t>
            </a:r>
            <a:r>
              <a:rPr lang="ru-RU" sz="2000">
                <a:ea typeface="Times New Roman"/>
                <a:cs typeface="Times New Roman"/>
              </a:rPr>
              <a:t> бот.</a:t>
            </a:r>
            <a:endParaRPr sz="2000">
              <a:ea typeface="Times New Roman"/>
              <a:cs typeface="Times New Roman"/>
            </a:endParaRPr>
          </a:p>
          <a:p>
            <a:pPr marL="342900" lvl="0" indent="-342900" algn="l">
              <a:lnSpc>
                <a:spcPct val="150000"/>
              </a:lnSpc>
              <a:buFont typeface="Symbol"/>
              <a:buChar char=""/>
              <a:tabLst>
                <a:tab pos="90170" algn="l"/>
                <a:tab pos="450850" algn="l"/>
                <a:tab pos="541020" algn="l"/>
                <a:tab pos="631190" algn="l"/>
              </a:tabLst>
              <a:defRPr/>
            </a:pPr>
            <a:r>
              <a:rPr lang="ru-RU" sz="2000">
                <a:ea typeface="Times New Roman"/>
                <a:cs typeface="Times New Roman"/>
              </a:rPr>
              <a:t>Создать </a:t>
            </a:r>
            <a:r>
              <a:rPr lang="ru-MO" sz="2000">
                <a:ea typeface="Times New Roman"/>
                <a:cs typeface="Times New Roman"/>
              </a:rPr>
              <a:t>бэкенд </a:t>
            </a:r>
            <a:r>
              <a:rPr lang="ru-RU" sz="2000">
                <a:ea typeface="Times New Roman"/>
                <a:cs typeface="Times New Roman"/>
              </a:rPr>
              <a:t>приложение, перенести в него функционал выдачи предсказания. Реализовать логику обработки сообщений пользователя.</a:t>
            </a:r>
            <a:endParaRPr sz="2000">
              <a:ea typeface="Times New Roman"/>
              <a:cs typeface="Times New Roman"/>
            </a:endParaRPr>
          </a:p>
          <a:p>
            <a:pPr marL="342900" lvl="0" indent="-342900" algn="l">
              <a:lnSpc>
                <a:spcPct val="150000"/>
              </a:lnSpc>
              <a:buFont typeface="Symbol"/>
              <a:buChar char=""/>
              <a:tabLst>
                <a:tab pos="90170" algn="l"/>
                <a:tab pos="450850" algn="l"/>
                <a:tab pos="541020" algn="l"/>
                <a:tab pos="631190" algn="l"/>
              </a:tabLst>
              <a:defRPr/>
            </a:pPr>
            <a:r>
              <a:rPr lang="ru-RU" sz="2000">
                <a:ea typeface="Times New Roman"/>
                <a:cs typeface="Times New Roman"/>
              </a:rPr>
              <a:t>Собрать достаточно большую базу предсказаний, чтобы вероятность выдачи одного и того же предсказания одному и тому же пользователю была достаточно низкой. Перенести хранение данных во внешнюю базу данных.</a:t>
            </a:r>
            <a:endParaRPr sz="2000">
              <a:ea typeface="Times New Roman"/>
              <a:cs typeface="Times New Roman"/>
            </a:endParaRPr>
          </a:p>
          <a:p>
            <a:pPr marL="342900" lvl="0" indent="-342900" algn="l">
              <a:lnSpc>
                <a:spcPct val="150000"/>
              </a:lnSpc>
              <a:buFont typeface="Symbol"/>
              <a:buChar char=""/>
              <a:tabLst>
                <a:tab pos="90170" algn="l"/>
                <a:tab pos="450850" algn="l"/>
                <a:tab pos="541020" algn="l"/>
                <a:tab pos="631190" algn="l"/>
              </a:tabLst>
              <a:defRPr/>
            </a:pPr>
            <a:r>
              <a:rPr lang="ru-RU" sz="2000">
                <a:ea typeface="Times New Roman"/>
                <a:cs typeface="Times New Roman"/>
              </a:rPr>
              <a:t>Протестировать работу всех функций бота на нескольких пользователях.</a:t>
            </a:r>
            <a:endParaRPr sz="2000">
              <a:ea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>
                <a:latin typeface="+mn-lt"/>
              </a:rPr>
              <a:t>Оборудование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685801" y="1776306"/>
            <a:ext cx="9509759" cy="4405037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  <a:tabLst>
                <a:tab pos="90170" algn="l"/>
                <a:tab pos="450850" algn="l"/>
                <a:tab pos="541020" algn="l"/>
                <a:tab pos="631190" algn="l"/>
              </a:tabLst>
              <a:defRPr/>
            </a:pPr>
            <a:r>
              <a:rPr lang="ru-RU" sz="2000" b="1">
                <a:ea typeface="Times New Roman"/>
                <a:cs typeface="Times New Roman"/>
              </a:rPr>
              <a:t>Ноутбук</a:t>
            </a:r>
            <a:endParaRPr sz="2000">
              <a:ea typeface="Times New Roman"/>
              <a:cs typeface="Times New Roman"/>
            </a:endParaRPr>
          </a:p>
          <a:p>
            <a:pPr algn="l">
              <a:lnSpc>
                <a:spcPct val="150000"/>
              </a:lnSpc>
              <a:tabLst>
                <a:tab pos="90170" algn="l"/>
                <a:tab pos="450850" algn="l"/>
                <a:tab pos="541020" algn="l"/>
                <a:tab pos="631190" algn="l"/>
              </a:tabLst>
              <a:defRPr/>
            </a:pPr>
            <a:r>
              <a:rPr lang="en-IN" sz="2000" b="1">
                <a:ea typeface="Times New Roman"/>
                <a:cs typeface="Times New Roman"/>
              </a:rPr>
              <a:t>GitHub </a:t>
            </a:r>
            <a:r>
              <a:rPr lang="ru-RU" sz="2000" b="1">
                <a:ea typeface="Times New Roman"/>
                <a:cs typeface="Times New Roman"/>
              </a:rPr>
              <a:t>для хранения исходных кодов</a:t>
            </a:r>
            <a:endParaRPr sz="2000">
              <a:ea typeface="Times New Roman"/>
              <a:cs typeface="Times New Roman"/>
            </a:endParaRPr>
          </a:p>
          <a:p>
            <a:pPr algn="l">
              <a:lnSpc>
                <a:spcPct val="150000"/>
              </a:lnSpc>
              <a:tabLst>
                <a:tab pos="90170" algn="l"/>
                <a:tab pos="450850" algn="l"/>
                <a:tab pos="541020" algn="l"/>
                <a:tab pos="631190" algn="l"/>
              </a:tabLst>
              <a:defRPr/>
            </a:pPr>
            <a:r>
              <a:rPr lang="en-IN" sz="2000" b="1">
                <a:ea typeface="Times New Roman"/>
                <a:cs typeface="Times New Roman"/>
              </a:rPr>
              <a:t>Frontend </a:t>
            </a:r>
            <a:r>
              <a:rPr lang="ru-RU" sz="2000" b="1">
                <a:ea typeface="Times New Roman"/>
                <a:cs typeface="Times New Roman"/>
              </a:rPr>
              <a:t>на базе </a:t>
            </a:r>
            <a:r>
              <a:rPr lang="en-IN" sz="2000" b="1">
                <a:ea typeface="Times New Roman"/>
                <a:cs typeface="Times New Roman"/>
              </a:rPr>
              <a:t>VueJS</a:t>
            </a:r>
            <a:endParaRPr sz="2000">
              <a:ea typeface="Times New Roman"/>
              <a:cs typeface="Times New Roman"/>
            </a:endParaRPr>
          </a:p>
          <a:p>
            <a:pPr algn="l">
              <a:lnSpc>
                <a:spcPct val="150000"/>
              </a:lnSpc>
              <a:tabLst>
                <a:tab pos="90170" algn="l"/>
                <a:tab pos="450850" algn="l"/>
                <a:tab pos="541020" algn="l"/>
                <a:tab pos="631190" algn="l"/>
              </a:tabLst>
              <a:defRPr/>
            </a:pPr>
            <a:r>
              <a:rPr lang="en-IN" sz="2000" b="1">
                <a:ea typeface="Times New Roman"/>
                <a:cs typeface="Times New Roman"/>
              </a:rPr>
              <a:t>Backend </a:t>
            </a:r>
            <a:r>
              <a:rPr lang="ru-RU" sz="2000" b="1">
                <a:ea typeface="Times New Roman"/>
                <a:cs typeface="Times New Roman"/>
              </a:rPr>
              <a:t>на базе </a:t>
            </a:r>
            <a:r>
              <a:rPr lang="en-IN" sz="2000" b="1">
                <a:ea typeface="Times New Roman"/>
                <a:cs typeface="Times New Roman"/>
              </a:rPr>
              <a:t>Serverless </a:t>
            </a:r>
            <a:r>
              <a:rPr lang="en-US" sz="2000" b="1">
                <a:ea typeface="Times New Roman"/>
                <a:cs typeface="Times New Roman"/>
              </a:rPr>
              <a:t>JavaScript functions </a:t>
            </a:r>
            <a:endParaRPr sz="2000">
              <a:ea typeface="Times New Roman"/>
              <a:cs typeface="Times New Roman"/>
            </a:endParaRPr>
          </a:p>
          <a:p>
            <a:pPr algn="l">
              <a:lnSpc>
                <a:spcPct val="150000"/>
              </a:lnSpc>
              <a:tabLst>
                <a:tab pos="90170" algn="l"/>
                <a:tab pos="450850" algn="l"/>
                <a:tab pos="541020" algn="l"/>
                <a:tab pos="631190" algn="l"/>
              </a:tabLst>
              <a:defRPr/>
            </a:pPr>
            <a:r>
              <a:rPr lang="en-IN" sz="2000" b="1">
                <a:ea typeface="Times New Roman"/>
                <a:cs typeface="Times New Roman"/>
              </a:rPr>
              <a:t>MongoDB </a:t>
            </a:r>
            <a:r>
              <a:rPr lang="ru-RU" sz="2000" b="1">
                <a:ea typeface="Times New Roman"/>
                <a:cs typeface="Times New Roman"/>
              </a:rPr>
              <a:t>для хранения данных</a:t>
            </a:r>
            <a:endParaRPr sz="2000">
              <a:ea typeface="Times New Roman"/>
              <a:cs typeface="Times New Roman"/>
            </a:endParaRPr>
          </a:p>
          <a:p>
            <a:pPr algn="l">
              <a:lnSpc>
                <a:spcPct val="150000"/>
              </a:lnSpc>
              <a:tabLst>
                <a:tab pos="90170" algn="l"/>
                <a:tab pos="450850" algn="l"/>
                <a:tab pos="541020" algn="l"/>
                <a:tab pos="631190" algn="l"/>
              </a:tabLst>
              <a:defRPr/>
            </a:pPr>
            <a:r>
              <a:rPr lang="ru-RU" sz="2000" b="1">
                <a:ea typeface="Times New Roman"/>
                <a:cs typeface="Times New Roman"/>
              </a:rPr>
              <a:t>Хостинг </a:t>
            </a:r>
            <a:r>
              <a:rPr lang="en-IN" sz="2000" b="1">
                <a:ea typeface="Times New Roman"/>
                <a:cs typeface="Times New Roman"/>
              </a:rPr>
              <a:t>N</a:t>
            </a:r>
            <a:r>
              <a:rPr lang="en-IN" sz="2000" b="1">
                <a:ea typeface="Times New Roman"/>
                <a:cs typeface="Times New Roman"/>
              </a:rPr>
              <a:t>etlify</a:t>
            </a:r>
            <a:endParaRPr sz="2000">
              <a:ea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>
                <a:latin typeface="+mn-lt"/>
              </a:rPr>
              <a:t>Методика выполнения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685801" y="1776306"/>
            <a:ext cx="9509759" cy="4405037"/>
          </a:xfrm>
        </p:spPr>
        <p:txBody>
          <a:bodyPr>
            <a:normAutofit/>
          </a:bodyPr>
          <a:lstStyle/>
          <a:p>
            <a:pPr marL="0" indent="450000" algn="l">
              <a:lnSpc>
                <a:spcPct val="150000"/>
              </a:lnSpc>
              <a:buNone/>
              <a:tabLst>
                <a:tab pos="90170" algn="l"/>
                <a:tab pos="450850" algn="l"/>
                <a:tab pos="541020" algn="l"/>
                <a:tab pos="631190" algn="l"/>
              </a:tabLst>
              <a:defRPr/>
            </a:pPr>
            <a:r>
              <a:rPr lang="ru-RU" sz="2000">
                <a:ea typeface="Times New Roman"/>
                <a:cs typeface="Times New Roman"/>
              </a:rPr>
              <a:t>Сначала мы изучили возможности которые предоставляет нам </a:t>
            </a:r>
            <a:r>
              <a:rPr lang="en-ZA" sz="2000">
                <a:ea typeface="Times New Roman"/>
              </a:rPr>
              <a:t>Telegram</a:t>
            </a:r>
            <a:r>
              <a:rPr lang="en-ZA" sz="2000">
                <a:ea typeface="Times New Roman"/>
              </a:rPr>
              <a:t> </a:t>
            </a:r>
            <a:r>
              <a:rPr lang="en-US" sz="2000">
                <a:ea typeface="Times New Roman"/>
              </a:rPr>
              <a:t>Web</a:t>
            </a:r>
            <a:r>
              <a:rPr lang="ru-RU" sz="2000">
                <a:ea typeface="Times New Roman"/>
              </a:rPr>
              <a:t> </a:t>
            </a:r>
            <a:r>
              <a:rPr lang="en-IN" sz="2000">
                <a:ea typeface="Times New Roman"/>
              </a:rPr>
              <a:t>App</a:t>
            </a:r>
            <a:r>
              <a:rPr lang="en-IN" sz="2000">
                <a:ea typeface="Times New Roman"/>
              </a:rPr>
              <a:t>s </a:t>
            </a:r>
            <a:r>
              <a:rPr lang="en-US" sz="2000">
                <a:ea typeface="Times New Roman"/>
              </a:rPr>
              <a:t>API</a:t>
            </a:r>
            <a:r>
              <a:rPr lang="ru-RU" sz="2000">
                <a:ea typeface="Times New Roman"/>
              </a:rPr>
              <a:t>, чем он отли</a:t>
            </a:r>
            <a:r>
              <a:rPr lang="ru-RU" sz="2000">
                <a:ea typeface="Times New Roman"/>
              </a:rPr>
              <a:t>чается от стандартных </a:t>
            </a:r>
            <a:r>
              <a:rPr lang="ru-RU" sz="2000">
                <a:ea typeface="Times New Roman"/>
              </a:rPr>
              <a:t>телеграмм</a:t>
            </a:r>
            <a:r>
              <a:rPr lang="ru-RU" sz="2000">
                <a:ea typeface="Times New Roman"/>
              </a:rPr>
              <a:t> ботов. Затем был разработан прототип </a:t>
            </a:r>
            <a:r>
              <a:rPr lang="en-US" sz="2000">
                <a:ea typeface="Times New Roman"/>
              </a:rPr>
              <a:t>web </a:t>
            </a:r>
            <a:r>
              <a:rPr lang="ru-RU" sz="2000">
                <a:ea typeface="Times New Roman"/>
              </a:rPr>
              <a:t>приложения</a:t>
            </a:r>
            <a:r>
              <a:rPr lang="en-US" sz="2000">
                <a:ea typeface="Times New Roman"/>
              </a:rPr>
              <a:t>, </a:t>
            </a:r>
            <a:r>
              <a:rPr lang="ru-RU" sz="2000">
                <a:ea typeface="Times New Roman"/>
              </a:rPr>
              <a:t>зарегистрирован бот и настроено их взаимодействие. Вместо классического </a:t>
            </a:r>
            <a:r>
              <a:rPr lang="ru-MO" sz="2000">
                <a:ea typeface="Times New Roman"/>
              </a:rPr>
              <a:t>бэкенд </a:t>
            </a:r>
            <a:r>
              <a:rPr lang="ru-RU" sz="2000">
                <a:ea typeface="Times New Roman"/>
              </a:rPr>
              <a:t>приложения мы использовали </a:t>
            </a:r>
            <a:r>
              <a:rPr lang="en-ID" sz="2000">
                <a:ea typeface="Times New Roman"/>
              </a:rPr>
              <a:t>S</a:t>
            </a:r>
            <a:r>
              <a:rPr lang="en-ID" sz="2000">
                <a:ea typeface="Times New Roman"/>
              </a:rPr>
              <a:t>erverless</a:t>
            </a:r>
            <a:r>
              <a:rPr lang="en-ID" sz="2000">
                <a:ea typeface="Times New Roman"/>
              </a:rPr>
              <a:t> </a:t>
            </a:r>
            <a:r>
              <a:rPr lang="ru-RU" sz="2000">
                <a:ea typeface="Times New Roman"/>
              </a:rPr>
              <a:t>подход,</a:t>
            </a:r>
            <a:r>
              <a:rPr lang="ru-RU" sz="2000"/>
              <a:t> что позволило разместить весь код на одном хостинге. Данные приложения были также размещены в облачной базе, что позволило обеспечить бесперебойную работу нашего бота.  </a:t>
            </a:r>
            <a:endParaRPr sz="2000">
              <a:ea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85801" y="376517"/>
            <a:ext cx="10131425" cy="1456267"/>
          </a:xfrm>
        </p:spPr>
        <p:txBody>
          <a:bodyPr/>
          <a:lstStyle/>
          <a:p>
            <a:pPr>
              <a:defRPr/>
            </a:pPr>
            <a:r>
              <a:rPr lang="ru-RU">
                <a:latin typeface="+mn-lt"/>
              </a:rPr>
              <a:t>Стандартные интерфейс взаимодействия с </a:t>
            </a:r>
            <a:r>
              <a:rPr lang="en-US">
                <a:latin typeface="+mn-lt"/>
              </a:rPr>
              <a:t>Telegram</a:t>
            </a:r>
            <a:r>
              <a:rPr lang="ru-RU">
                <a:latin typeface="+mn-lt"/>
              </a:rPr>
              <a:t> ботом</a:t>
            </a:r>
            <a:endParaRPr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685801" y="1832784"/>
            <a:ext cx="7298264" cy="3649132"/>
          </a:xfrm>
          <a:prstGeom prst="rect">
            <a:avLst/>
          </a:prstGeom>
          <a:noFill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7817222" y="1832784"/>
            <a:ext cx="3649132" cy="3649132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 bwMode="auto">
          <a:xfrm>
            <a:off x="1315944" y="5581042"/>
            <a:ext cx="2351860" cy="396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2000"/>
              <a:t>Меню с командами</a:t>
            </a:r>
            <a:endParaRPr sz="2000"/>
          </a:p>
        </p:txBody>
      </p:sp>
      <p:sp>
        <p:nvSpPr>
          <p:cNvPr id="5" name="TextBox 4"/>
          <p:cNvSpPr txBox="1"/>
          <p:nvPr/>
        </p:nvSpPr>
        <p:spPr bwMode="auto">
          <a:xfrm flipH="0" flipV="0">
            <a:off x="4663793" y="5594676"/>
            <a:ext cx="3005525" cy="396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2000"/>
              <a:t>Кнопки в сообщении</a:t>
            </a:r>
            <a:endParaRPr sz="2000"/>
          </a:p>
        </p:txBody>
      </p:sp>
      <p:sp>
        <p:nvSpPr>
          <p:cNvPr id="6" name="TextBox 5"/>
          <p:cNvSpPr txBox="1"/>
          <p:nvPr/>
        </p:nvSpPr>
        <p:spPr bwMode="auto">
          <a:xfrm>
            <a:off x="8390898" y="5608310"/>
            <a:ext cx="2761849" cy="396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MO" sz="2000"/>
              <a:t>Кастомная</a:t>
            </a:r>
            <a:r>
              <a:rPr lang="ru-MO" sz="2000"/>
              <a:t> </a:t>
            </a:r>
            <a:r>
              <a:rPr lang="ru-RU" sz="2000"/>
              <a:t>клавиатура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36872" y="797298"/>
            <a:ext cx="4589141" cy="70408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3600">
                <a:latin typeface="+mn-lt"/>
              </a:rPr>
              <a:t>Telegram Web APPS</a:t>
            </a:r>
            <a:br>
              <a:rPr lang="en-US" sz="3200">
                <a:latin typeface="+mn-lt"/>
              </a:rPr>
            </a:br>
            <a:endParaRPr lang="ru-RU" sz="3200">
              <a:latin typeface="+mn-lt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874060" y="1862791"/>
            <a:ext cx="2190102" cy="4493185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252421" y="1862791"/>
            <a:ext cx="2207484" cy="4493185"/>
          </a:xfrm>
          <a:prstGeom prst="rect">
            <a:avLst/>
          </a:prstGeom>
        </p:spPr>
      </p:pic>
      <p:pic>
        <p:nvPicPr>
          <p:cNvPr id="3074" name="Picture 2" descr="Telegram — Википедия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8449023" y="3755165"/>
            <a:ext cx="820779" cy="820779"/>
          </a:xfrm>
          <a:prstGeom prst="rect">
            <a:avLst/>
          </a:prstGeom>
          <a:noFill/>
        </p:spPr>
      </p:pic>
      <p:pic>
        <p:nvPicPr>
          <p:cNvPr id="3078" name="Picture 6" descr="The Flask Mega-Tutorial Part I: Hello, World! (2018) - miguelgrinberg.com"/>
          <p:cNvPicPr>
            <a:picLocks noChangeAspect="1" noChangeArrowheads="1"/>
          </p:cNvPicPr>
          <p:nvPr/>
        </p:nvPicPr>
        <p:blipFill>
          <a:blip r:embed="rId5"/>
          <a:stretch/>
        </p:blipFill>
        <p:spPr bwMode="auto">
          <a:xfrm>
            <a:off x="6965988" y="527334"/>
            <a:ext cx="3664874" cy="2748656"/>
          </a:xfrm>
          <a:prstGeom prst="rect">
            <a:avLst/>
          </a:prstGeom>
          <a:noFill/>
        </p:spPr>
      </p:pic>
      <p:sp>
        <p:nvSpPr>
          <p:cNvPr id="9" name="Стрелка вниз 8"/>
          <p:cNvSpPr/>
          <p:nvPr/>
        </p:nvSpPr>
        <p:spPr bwMode="auto">
          <a:xfrm>
            <a:off x="8442452" y="2854869"/>
            <a:ext cx="827350" cy="790325"/>
          </a:xfrm>
          <a:prstGeom prst="downArrow">
            <a:avLst>
              <a:gd name="adj1" fmla="val 50000"/>
              <a:gd name="adj2" fmla="val 5000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4" name="Объект 2"/>
          <p:cNvSpPr>
            <a:spLocks noGrp="1"/>
          </p:cNvSpPr>
          <p:nvPr>
            <p:ph idx="1"/>
          </p:nvPr>
        </p:nvSpPr>
        <p:spPr bwMode="auto">
          <a:xfrm>
            <a:off x="6046708" y="4460814"/>
            <a:ext cx="5950219" cy="2418901"/>
          </a:xfrm>
        </p:spPr>
        <p:txBody>
          <a:bodyPr>
            <a:normAutofit/>
          </a:bodyPr>
          <a:lstStyle/>
          <a:p>
            <a:pPr marL="0" indent="450000" algn="l">
              <a:lnSpc>
                <a:spcPct val="150000"/>
              </a:lnSpc>
              <a:buNone/>
              <a:tabLst>
                <a:tab pos="90170" algn="l"/>
                <a:tab pos="450850" algn="l"/>
                <a:tab pos="541020" algn="l"/>
                <a:tab pos="631190" algn="l"/>
              </a:tabLst>
              <a:defRPr/>
            </a:pPr>
            <a:r>
              <a:rPr lang="ru-RU" sz="2000">
                <a:ea typeface="Times New Roman"/>
                <a:cs typeface="Times New Roman"/>
              </a:rPr>
              <a:t>Данный </a:t>
            </a:r>
            <a:r>
              <a:rPr lang="ru-RU" sz="2000">
                <a:ea typeface="Times New Roman"/>
                <a:cs typeface="Times New Roman"/>
              </a:rPr>
              <a:t>подход открывает веб приложение внутри бота, что  п</a:t>
            </a:r>
            <a:r>
              <a:rPr lang="ru-RU" sz="2000">
                <a:ea typeface="Times New Roman"/>
                <a:cs typeface="Times New Roman"/>
              </a:rPr>
              <a:t>озволяет удобно им пользоваться. Таким образом можно сделать практически любой интерфейс.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85800" y="285750"/>
            <a:ext cx="10131424" cy="1456266"/>
          </a:xfrm>
        </p:spPr>
        <p:txBody>
          <a:bodyPr/>
          <a:lstStyle/>
          <a:p>
            <a:pPr>
              <a:defRPr/>
            </a:pPr>
            <a:r>
              <a:rPr lang="en-US">
                <a:latin typeface="+mn-lt"/>
              </a:rPr>
              <a:t>FrontenD</a:t>
            </a:r>
            <a:endParaRPr lang="ru-RU">
              <a:latin typeface="+mn-lt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6211046" y="5154084"/>
            <a:ext cx="4492811" cy="1909482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25000" lnSpcReduction="15000"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99"/>
              </a:spcAft>
              <a:defRPr/>
            </a:pPr>
            <a:r>
              <a:rPr lang="ru-RU" sz="8000"/>
              <a:t>Написан на </a:t>
            </a:r>
            <a:r>
              <a:rPr lang="en-US" sz="8000"/>
              <a:t>JavaScript</a:t>
            </a:r>
            <a:r>
              <a:rPr lang="ru-RU" sz="8000"/>
              <a:t> с использованием </a:t>
            </a:r>
            <a:r>
              <a:rPr lang="en-US" sz="8000"/>
              <a:t>HTML </a:t>
            </a:r>
            <a:r>
              <a:rPr lang="ru-RU" sz="8000"/>
              <a:t>разметки и </a:t>
            </a:r>
            <a:r>
              <a:rPr lang="en-US" sz="8000"/>
              <a:t>CSS </a:t>
            </a:r>
            <a:r>
              <a:rPr lang="ru-RU" sz="8000"/>
              <a:t>стилей</a:t>
            </a:r>
            <a:endParaRPr sz="3600"/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99"/>
              </a:spcAft>
              <a:defRPr/>
            </a:pPr>
            <a:r>
              <a:rPr lang="ru-RU" sz="8000"/>
              <a:t>Использован </a:t>
            </a:r>
            <a:r>
              <a:rPr lang="ru-MO" sz="8000"/>
              <a:t>фреймворк</a:t>
            </a:r>
            <a:r>
              <a:rPr lang="ru-MO" sz="8000"/>
              <a:t> </a:t>
            </a:r>
            <a:r>
              <a:rPr lang="en-TT" sz="8000"/>
              <a:t>VueJS</a:t>
            </a:r>
            <a:endParaRPr sz="8000"/>
          </a:p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999"/>
              </a:spcAft>
              <a:buNone/>
              <a:defRPr/>
            </a:pPr>
            <a:endParaRPr sz="8000"/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99"/>
              </a:spcAft>
              <a:defRPr/>
            </a:pPr>
            <a:endParaRPr sz="8000"/>
          </a:p>
        </p:txBody>
      </p:sp>
      <p:pic>
        <p:nvPicPr>
          <p:cNvPr id="4100" name="Picture 4" descr="VueJS Development Services | 75way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5980954" y="686671"/>
            <a:ext cx="4492811" cy="3662207"/>
          </a:xfrm>
          <a:prstGeom prst="rect">
            <a:avLst/>
          </a:prstGeom>
          <a:noFill/>
        </p:spPr>
      </p:pic>
      <p:sp>
        <p:nvSpPr>
          <p:cNvPr id="6" name="Объект 2"/>
          <p:cNvSpPr txBox="1"/>
          <p:nvPr/>
        </p:nvSpPr>
        <p:spPr bwMode="auto">
          <a:xfrm>
            <a:off x="570754" y="2065866"/>
            <a:ext cx="5410199" cy="4152650"/>
          </a:xfrm>
          <a:prstGeom prst="rect">
            <a:avLst/>
          </a:prstGeo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25000" lnSpcReduction="15000"/>
          </a:bodyPr>
          <a:lstStyle>
            <a:lvl1pPr marL="285750" indent="-285750" algn="l" defTabSz="45720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45720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defTabSz="45720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defTabSz="45720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99"/>
              </a:spcAft>
              <a:defRPr/>
            </a:pPr>
            <a:r>
              <a:rPr lang="ru-RU" sz="8000"/>
              <a:t>Основной интерфейс для взаимодействия с пользователем.</a:t>
            </a:r>
            <a:endParaRPr sz="3600"/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99"/>
              </a:spcAft>
              <a:defRPr/>
            </a:pPr>
            <a:r>
              <a:rPr lang="ru-RU" sz="8000"/>
              <a:t>Предлагает выбрать </a:t>
            </a:r>
            <a:r>
              <a:rPr lang="ru-MO" sz="8000"/>
              <a:t>печеньку </a:t>
            </a:r>
            <a:r>
              <a:rPr lang="ru-RU" sz="8000"/>
              <a:t>и показывает предсказание.</a:t>
            </a:r>
            <a:endParaRPr sz="3600"/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99"/>
              </a:spcAft>
              <a:defRPr/>
            </a:pPr>
            <a:r>
              <a:rPr lang="ru-RU" sz="8000"/>
              <a:t>Показывает сообщение. пользователю о том, что доступно только одно предсказание в день.</a:t>
            </a:r>
            <a:endParaRPr sz="3600"/>
          </a:p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999"/>
              </a:spcAft>
              <a:buFont typeface="Arial"/>
              <a:buNone/>
              <a:defRPr/>
            </a:pPr>
            <a:endParaRPr sz="8000"/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99"/>
              </a:spcAft>
              <a:defRPr/>
            </a:pPr>
            <a:endParaRPr sz="8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85800" y="438732"/>
            <a:ext cx="10131424" cy="1456266"/>
          </a:xfrm>
        </p:spPr>
        <p:txBody>
          <a:bodyPr/>
          <a:lstStyle/>
          <a:p>
            <a:pPr>
              <a:defRPr/>
            </a:pPr>
            <a:r>
              <a:rPr lang="en-US">
                <a:latin typeface="+mn-lt"/>
              </a:rPr>
              <a:t>Backend</a:t>
            </a:r>
            <a:endParaRPr lang="ru-RU">
              <a:latin typeface="+mn-lt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685800" y="1929776"/>
            <a:ext cx="3993775" cy="3218579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99"/>
              </a:spcAft>
              <a:defRPr/>
            </a:pPr>
            <a:r>
              <a:rPr lang="ru-RU" sz="2000"/>
              <a:t>Отвечает на сообщения пользователя</a:t>
            </a:r>
            <a:endParaRPr sz="1400"/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99"/>
              </a:spcAft>
              <a:defRPr/>
            </a:pPr>
            <a:r>
              <a:rPr lang="ru-RU" sz="2000"/>
              <a:t>Выдает фронту предсказание</a:t>
            </a:r>
            <a:endParaRPr sz="1400"/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99"/>
              </a:spcAft>
              <a:defRPr/>
            </a:pPr>
            <a:r>
              <a:rPr lang="ru-RU" sz="2000"/>
              <a:t>Ведет учет пользователей</a:t>
            </a:r>
            <a:endParaRPr sz="1400"/>
          </a:p>
        </p:txBody>
      </p:sp>
      <p:pic>
        <p:nvPicPr>
          <p:cNvPr id="5124" name="Picture 4" descr="What is the difference between server and client? - Quora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5136063" y="2944906"/>
            <a:ext cx="5079875" cy="2203450"/>
          </a:xfrm>
          <a:prstGeom prst="rect">
            <a:avLst/>
          </a:prstGeom>
          <a:noFill/>
        </p:spPr>
      </p:pic>
      <p:pic>
        <p:nvPicPr>
          <p:cNvPr id="5126" name="Picture 6" descr="Welcome to Python.org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5136063" y="1166866"/>
            <a:ext cx="4159245" cy="1176062"/>
          </a:xfrm>
          <a:prstGeom prst="rect">
            <a:avLst/>
          </a:prstGeom>
          <a:noFill/>
        </p:spPr>
      </p:pic>
      <p:pic>
        <p:nvPicPr>
          <p:cNvPr id="5128" name="Picture 8" descr="What is a good question? | Dragonfly Training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8462215" y="751663"/>
            <a:ext cx="1753723" cy="1753723"/>
          </a:xfrm>
          <a:prstGeom prst="rect">
            <a:avLst/>
          </a:prstGeom>
          <a:noFill/>
        </p:spPr>
      </p:pic>
      <p:sp>
        <p:nvSpPr>
          <p:cNvPr id="4" name="Объект 2"/>
          <p:cNvSpPr txBox="1"/>
          <p:nvPr/>
        </p:nvSpPr>
        <p:spPr bwMode="auto">
          <a:xfrm>
            <a:off x="2185416" y="5675494"/>
            <a:ext cx="7397495" cy="1050559"/>
          </a:xfrm>
          <a:prstGeom prst="rect">
            <a:avLst/>
          </a:prstGeo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25000" lnSpcReduction="15000"/>
          </a:bodyPr>
          <a:lstStyle>
            <a:lvl1pPr marL="285750" indent="-285750" algn="l" defTabSz="45720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45720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defTabSz="45720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defTabSz="45720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50000"/>
              </a:lnSpc>
              <a:buFont typeface="Arial"/>
              <a:buNone/>
              <a:tabLst>
                <a:tab pos="90170" algn="l"/>
                <a:tab pos="450850" algn="l"/>
                <a:tab pos="541020" algn="l"/>
                <a:tab pos="631190" algn="l"/>
              </a:tabLst>
              <a:defRPr/>
            </a:pPr>
            <a:r>
              <a:rPr lang="ru-RU" sz="8000">
                <a:ea typeface="Times New Roman"/>
                <a:cs typeface="Times New Roman"/>
              </a:rPr>
              <a:t>Сначала мы хотели сделать </a:t>
            </a:r>
            <a:r>
              <a:rPr lang="ru-MO" sz="8000">
                <a:ea typeface="Times New Roman"/>
                <a:cs typeface="Times New Roman"/>
              </a:rPr>
              <a:t>бэк</a:t>
            </a:r>
            <a:r>
              <a:rPr lang="ru-MO" sz="8000">
                <a:ea typeface="Times New Roman"/>
                <a:cs typeface="Times New Roman"/>
              </a:rPr>
              <a:t> </a:t>
            </a:r>
            <a:r>
              <a:rPr lang="ru-RU" sz="8000">
                <a:ea typeface="Times New Roman"/>
                <a:cs typeface="Times New Roman"/>
              </a:rPr>
              <a:t>на </a:t>
            </a:r>
            <a:r>
              <a:rPr lang="en-US" sz="8000">
                <a:ea typeface="Times New Roman"/>
                <a:cs typeface="Times New Roman"/>
              </a:rPr>
              <a:t>Python</a:t>
            </a:r>
            <a:r>
              <a:rPr lang="ru-RU" sz="8000">
                <a:ea typeface="Times New Roman"/>
                <a:cs typeface="Times New Roman"/>
              </a:rPr>
              <a:t>, но нам не удалось найти бесплатный хостинг, на котором его можно было бы запустить.</a:t>
            </a:r>
            <a:endParaRPr sz="7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85800" y="428624"/>
            <a:ext cx="10131424" cy="1456266"/>
          </a:xfrm>
        </p:spPr>
        <p:txBody>
          <a:bodyPr/>
          <a:lstStyle/>
          <a:p>
            <a:pPr>
              <a:defRPr/>
            </a:pPr>
            <a:r>
              <a:rPr lang="en-US">
                <a:latin typeface="+mn-lt"/>
              </a:rPr>
              <a:t>ServerLESS</a:t>
            </a:r>
            <a:r>
              <a:rPr lang="en-US">
                <a:latin typeface="+mn-lt"/>
              </a:rPr>
              <a:t> </a:t>
            </a:r>
            <a:r>
              <a:rPr lang="ru-RU">
                <a:latin typeface="+mn-lt"/>
              </a:rPr>
              <a:t>функции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 flipH="0" flipV="0">
            <a:off x="685800" y="1538287"/>
            <a:ext cx="3070411" cy="3781424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25000" lnSpcReduction="15000"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99"/>
              </a:spcAft>
              <a:defRPr/>
            </a:pPr>
            <a:r>
              <a:rPr lang="en-US" sz="8000"/>
              <a:t>JavaScript </a:t>
            </a:r>
            <a:r>
              <a:rPr lang="ru-RU" sz="8000"/>
              <a:t>функции были размещены на хостинге вместе с </a:t>
            </a:r>
            <a:r>
              <a:rPr lang="en-TT" sz="8000"/>
              <a:t>frontend</a:t>
            </a:r>
            <a:r>
              <a:rPr lang="en-TT" sz="8000"/>
              <a:t> </a:t>
            </a:r>
            <a:r>
              <a:rPr lang="ru-RU" sz="8000"/>
              <a:t>приложением</a:t>
            </a:r>
            <a:endParaRPr sz="8000"/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99"/>
              </a:spcAft>
              <a:defRPr/>
            </a:pPr>
            <a:r>
              <a:rPr lang="ru-RU" sz="8000"/>
              <a:t>Функция запускается в момент запроса</a:t>
            </a:r>
            <a:endParaRPr sz="8000"/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99"/>
              </a:spcAft>
              <a:defRPr/>
            </a:pPr>
            <a:endParaRPr sz="8000"/>
          </a:p>
        </p:txBody>
      </p:sp>
      <p:pic>
        <p:nvPicPr>
          <p:cNvPr id="6146" name="Picture 2" descr="JavaScript — Википедия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0817226" y="270934"/>
            <a:ext cx="1066799" cy="1066799"/>
          </a:xfrm>
          <a:prstGeom prst="rect">
            <a:avLst/>
          </a:prstGeom>
          <a:noFill/>
        </p:spPr>
      </p:pic>
      <p:pic>
        <p:nvPicPr>
          <p:cNvPr id="6148" name="Picture 4" descr="What is Serverless? Examples, Architecture and How it works❓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4619998" y="2065867"/>
            <a:ext cx="6886201" cy="4131720"/>
          </a:xfrm>
          <a:prstGeom prst="rect">
            <a:avLst/>
          </a:prstGeom>
          <a:noFill/>
        </p:spPr>
      </p:pic>
      <p:sp>
        <p:nvSpPr>
          <p:cNvPr id="4" name="Объект 2"/>
          <p:cNvSpPr txBox="1"/>
          <p:nvPr/>
        </p:nvSpPr>
        <p:spPr bwMode="auto">
          <a:xfrm>
            <a:off x="685800" y="5384029"/>
            <a:ext cx="3803903" cy="1050559"/>
          </a:xfrm>
          <a:prstGeom prst="rect">
            <a:avLst/>
          </a:prstGeo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25000" lnSpcReduction="15000"/>
          </a:bodyPr>
          <a:lstStyle>
            <a:lvl1pPr marL="285750" indent="-285750" algn="l" defTabSz="45720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45720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defTabSz="45720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defTabSz="45720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50000"/>
              </a:lnSpc>
              <a:buFont typeface="Arial"/>
              <a:buNone/>
              <a:tabLst>
                <a:tab pos="90170" algn="l"/>
                <a:tab pos="450850" algn="l"/>
                <a:tab pos="541020" algn="l"/>
                <a:tab pos="631190" algn="l"/>
              </a:tabLst>
              <a:defRPr/>
            </a:pPr>
            <a:r>
              <a:rPr lang="ru-MO" sz="8000">
                <a:ea typeface="Times New Roman"/>
                <a:cs typeface="Times New Roman"/>
              </a:rPr>
              <a:t>Бэк </a:t>
            </a:r>
            <a:r>
              <a:rPr lang="ru-RU" sz="8000">
                <a:ea typeface="Times New Roman"/>
                <a:cs typeface="Times New Roman"/>
              </a:rPr>
              <a:t>на базе</a:t>
            </a:r>
            <a:r>
              <a:rPr lang="en-US" sz="8000">
                <a:ea typeface="Times New Roman"/>
                <a:cs typeface="Times New Roman"/>
              </a:rPr>
              <a:t> </a:t>
            </a:r>
            <a:r>
              <a:rPr lang="en-US" sz="8000"/>
              <a:t>JavaScript </a:t>
            </a:r>
            <a:r>
              <a:rPr lang="ru-RU" sz="8000"/>
              <a:t>функций удалось запустить на одном хостинге с </a:t>
            </a:r>
            <a:r>
              <a:rPr lang="ru-MO" sz="8000"/>
              <a:t>фронтенд</a:t>
            </a:r>
            <a:r>
              <a:rPr lang="ru-MO" sz="8000"/>
              <a:t> </a:t>
            </a:r>
            <a:r>
              <a:rPr lang="ru-RU" sz="8000"/>
              <a:t>приложением. </a:t>
            </a:r>
            <a:r>
              <a:rPr lang="en-US" sz="8000"/>
              <a:t> </a:t>
            </a:r>
            <a:r>
              <a:rPr lang="ru-RU" sz="8000">
                <a:ea typeface="Times New Roman"/>
                <a:cs typeface="Times New Roman"/>
              </a:rPr>
              <a:t> </a:t>
            </a:r>
            <a:endParaRPr sz="8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85800" y="514349"/>
            <a:ext cx="10131424" cy="1456266"/>
          </a:xfrm>
        </p:spPr>
        <p:txBody>
          <a:bodyPr/>
          <a:lstStyle/>
          <a:p>
            <a:pPr>
              <a:defRPr/>
            </a:pPr>
            <a:r>
              <a:rPr lang="ru-RU">
                <a:latin typeface="+mn-lt"/>
              </a:rPr>
              <a:t>База данных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685800" y="1738656"/>
            <a:ext cx="4128246" cy="2650067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99"/>
              </a:spcAft>
              <a:defRPr/>
            </a:pPr>
            <a:r>
              <a:rPr lang="ru-RU" sz="2000"/>
              <a:t>В базе хранятся предсказания выдаваемые пользователям.</a:t>
            </a:r>
            <a:endParaRPr sz="1400"/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99"/>
              </a:spcAft>
              <a:defRPr/>
            </a:pPr>
            <a:r>
              <a:rPr lang="ru-RU" sz="2000"/>
              <a:t>Также хранится информация о том, кому и когда было выдано предсказание.</a:t>
            </a:r>
            <a:endParaRPr sz="1400"/>
          </a:p>
        </p:txBody>
      </p:sp>
      <p:pic>
        <p:nvPicPr>
          <p:cNvPr id="7170" name="Picture 2" descr="mongodb-icon | Desuvit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5587999" y="1083115"/>
            <a:ext cx="4887260" cy="4691770"/>
          </a:xfrm>
          <a:prstGeom prst="rect">
            <a:avLst/>
          </a:prstGeom>
          <a:noFill/>
        </p:spPr>
      </p:pic>
      <p:sp>
        <p:nvSpPr>
          <p:cNvPr id="4" name="Объект 2"/>
          <p:cNvSpPr txBox="1"/>
          <p:nvPr/>
        </p:nvSpPr>
        <p:spPr bwMode="auto">
          <a:xfrm>
            <a:off x="685800" y="4741574"/>
            <a:ext cx="4902199" cy="18878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45720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defTabSz="45720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defTabSz="45720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99"/>
              </a:spcAft>
              <a:defRPr/>
            </a:pPr>
            <a:r>
              <a:rPr lang="ru-RU" sz="2000"/>
              <a:t>Выбрана </a:t>
            </a:r>
            <a:r>
              <a:rPr lang="en-TT" sz="2000"/>
              <a:t>MongoDB</a:t>
            </a:r>
            <a:r>
              <a:rPr lang="ru-RU" sz="2000"/>
              <a:t>,</a:t>
            </a:r>
            <a:r>
              <a:rPr lang="en-US" sz="2000"/>
              <a:t> </a:t>
            </a:r>
            <a:r>
              <a:rPr lang="ru-RU" sz="2000"/>
              <a:t>так как она вполне подходит для данной задачи и имеет бесплатный облачный хостинг.</a:t>
            </a: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85800" y="428997"/>
            <a:ext cx="10131424" cy="1456266"/>
          </a:xfrm>
        </p:spPr>
        <p:txBody>
          <a:bodyPr/>
          <a:lstStyle/>
          <a:p>
            <a:pPr>
              <a:defRPr/>
            </a:pPr>
            <a:r>
              <a:rPr lang="ru-RU">
                <a:latin typeface="Calibri"/>
                <a:ea typeface="Calibri"/>
                <a:cs typeface="Calibri"/>
              </a:rPr>
              <a:t>Результат </a:t>
            </a:r>
            <a:endParaRPr/>
          </a:p>
        </p:txBody>
      </p:sp>
      <p:pic>
        <p:nvPicPr>
          <p:cNvPr id="5" name="Рисунок 4" descr="Изображение выглядит как текст, снимок экрана, программное обеспечение, Веб-сайт&#10;&#10;Автоматически созданное описание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83920" y="1885266"/>
            <a:ext cx="2070217" cy="4491318"/>
          </a:xfrm>
          <a:prstGeom prst="rect">
            <a:avLst/>
          </a:prstGeom>
        </p:spPr>
      </p:pic>
      <p:pic>
        <p:nvPicPr>
          <p:cNvPr id="8" name="Рисунок 7" descr="Изображение выглядит как текст, снимок экрана, программное обеспечение, Веб-сайт&#10;&#10;Автоматически созданное описание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786580" y="1885266"/>
            <a:ext cx="2070217" cy="4491318"/>
          </a:xfrm>
          <a:prstGeom prst="rect">
            <a:avLst/>
          </a:prstGeom>
        </p:spPr>
      </p:pic>
      <p:pic>
        <p:nvPicPr>
          <p:cNvPr id="4" name="Рисунок 3" descr="Изображение выглядит как текст, снимок экрана, дизайн&#10;&#10;Автоматически созданное описание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5089240" y="1885268"/>
            <a:ext cx="2070216" cy="4491316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снимок экрана, дизайн&#10;&#10;Автоматически созданное описание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7391899" y="1885265"/>
            <a:ext cx="2070217" cy="4491319"/>
          </a:xfrm>
          <a:prstGeom prst="rect">
            <a:avLst/>
          </a:prstGeom>
        </p:spPr>
      </p:pic>
      <p:pic>
        <p:nvPicPr>
          <p:cNvPr id="11" name="Рисунок 10" descr="Изображение выглядит как текст, Мелкие и средние кошки, кот, снимок экрана&#10;&#10;Автоматически созданное описание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9694558" y="1885265"/>
            <a:ext cx="2070218" cy="44913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>
                <a:latin typeface="Calibri"/>
                <a:ea typeface="Calibri"/>
                <a:cs typeface="Calibri"/>
              </a:rPr>
              <a:t>Выводы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685801" y="1957292"/>
            <a:ext cx="5190564" cy="3693957"/>
          </a:xfrm>
        </p:spPr>
        <p:txBody>
          <a:bodyPr>
            <a:normAutofit/>
          </a:bodyPr>
          <a:lstStyle/>
          <a:p>
            <a:pPr marL="0" indent="450000" algn="l">
              <a:lnSpc>
                <a:spcPct val="150000"/>
              </a:lnSpc>
              <a:spcBef>
                <a:spcPts val="0"/>
              </a:spcBef>
              <a:spcAft>
                <a:spcPts val="999"/>
              </a:spcAft>
              <a:buNone/>
              <a:defRPr/>
            </a:pPr>
            <a:r>
              <a:rPr lang="ru-RU" sz="2000"/>
              <a:t>Своего </a:t>
            </a:r>
            <a:r>
              <a:rPr lang="ru-RU" sz="2000"/>
              <a:t>телеграм</a:t>
            </a:r>
            <a:r>
              <a:rPr lang="ru-RU" sz="2000"/>
              <a:t>м бота сделать не очень сложно, его можно запустить даже на бесплатном хостинге. Использование </a:t>
            </a:r>
            <a:r>
              <a:rPr lang="en-US" sz="2000"/>
              <a:t>Telegram Web App </a:t>
            </a:r>
            <a:r>
              <a:rPr lang="ru-RU" sz="2000"/>
              <a:t>позволяет сделать бота с практически любым интерфейсом для выполнения любых задач.</a:t>
            </a:r>
            <a:endParaRPr sz="140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6570943" y="1731183"/>
            <a:ext cx="4025339" cy="4146176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 bwMode="auto">
          <a:xfrm>
            <a:off x="6570942" y="951666"/>
            <a:ext cx="3918123" cy="701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4000"/>
              <a:t>@</a:t>
            </a:r>
            <a:r>
              <a:rPr lang="en-IN" sz="4000"/>
              <a:t>CookiesFortBot</a:t>
            </a:r>
            <a:endParaRPr lang="ru-RU" sz="4000"/>
          </a:p>
        </p:txBody>
      </p:sp>
      <p:sp>
        <p:nvSpPr>
          <p:cNvPr id="6" name="TextBox 5"/>
          <p:cNvSpPr txBox="1"/>
          <p:nvPr/>
        </p:nvSpPr>
        <p:spPr bwMode="auto">
          <a:xfrm>
            <a:off x="1414520" y="5948988"/>
            <a:ext cx="8924307" cy="10061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000"/>
              <a:t>В описании бота и ниже доступна ссылка на репозиторий с его исходным кодом </a:t>
            </a:r>
            <a:endParaRPr/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" sz="2000" u="sng">
                <a:hlinkClick r:id="rId3" tooltip="https://github.com/victoria-lichiko22/cookies"/>
              </a:rPr>
              <a:t>https://</a:t>
            </a:r>
            <a:r>
              <a:rPr lang="en" sz="2000" u="sng">
                <a:hlinkClick r:id="rId3" tooltip="https://github.com/victoria-lichiko22/cookies"/>
              </a:rPr>
              <a:t>github.com</a:t>
            </a:r>
            <a:r>
              <a:rPr lang="en" sz="2000" u="sng">
                <a:hlinkClick r:id="rId3" tooltip="https://github.com/victoria-lichiko22/cookies"/>
              </a:rPr>
              <a:t>/victoria-lichiko22/cookies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Relationship Id="rId1" Type="http://schemas.openxmlformats.org/officeDocument/2006/relationships/image" Target="../media/image1.jpg"/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Небесная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Celestial">
      <a:fillStyleLst>
        <a:solidFill>
          <a:schemeClr val="phClr"/>
        </a:solidFill>
        <a:gradFill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r:embed="rId1"/>
          <a:stretch/>
        </a:blip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Небесная</Template>
  <TotalTime>0</TotalTime>
  <Words>0</Words>
  <Application>R7-Office/7.4.0.112</Application>
  <DocSecurity>0</DocSecurity>
  <PresentationFormat>Широкоэкранный</PresentationFormat>
  <Paragraphs>0</Paragraphs>
  <Slides>14</Slides>
  <Notes>14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Телеграмм бот печенье с предсказаниями</dc:title>
  <dc:subject/>
  <dc:creator>Чех Михаил Анатольевич</dc:creator>
  <cp:keywords/>
  <dc:description/>
  <dc:identifier/>
  <dc:language/>
  <cp:lastModifiedBy>Виктория Мифтахова</cp:lastModifiedBy>
  <cp:revision>17</cp:revision>
  <dcterms:created xsi:type="dcterms:W3CDTF">2023-12-23T13:22:54Z</dcterms:created>
  <dcterms:modified xsi:type="dcterms:W3CDTF">2024-02-07T08:55:56Z</dcterms:modified>
  <cp:category/>
  <cp:contentStatus/>
  <cp:version/>
</cp:coreProperties>
</file>