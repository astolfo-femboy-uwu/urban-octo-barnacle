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0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4630400" cy="8229600"/>
  <p:notesSz cx="8229600" cy="14630400"/>
  <p:embeddedFontLst>
    <p:embeddedFont>
      <p:font typeface="Inter"/>
    </p:embeddedFont>
    <p:embeddedFont>
      <p:font typeface="+mn-lt"/>
    </p:embeddedFont>
    <p:embeddedFont>
      <p:font typeface="Inter Bold"/>
    </p:embeddedFont>
    <p:embeddedFont>
      <p:font typeface="Inter Light"/>
    </p:embeddedFont>
    <p:embeddedFont>
      <p:font typeface="+mn-ea"/>
    </p:embeddedFont>
    <p:embeddedFont>
      <p:font typeface="Microsoft YaHei"/>
    </p:embeddedFont>
    <p:embeddedFont>
      <p:font typeface="+mn-cs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799054-21D3-4FD1-8735-9FA53085C0F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064B9BA-AB07-4A2C-9738-424DA9473C3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489C9E-657F-460F-8C7B-1E4D113C77F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FA19C0-B3B9-41D3-9FD1-12DBEF4C33B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57AB9F-8D64-4FDA-B898-498A6B2E3EB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283152-56B3-411F-803E-35B276419A3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0B7756-C652-42F0-802B-5A722815B7A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E2F908-C3C5-4FC8-8CAF-2853EF9DFC10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D801F1E-D2C0-41EA-B8F6-6D692C572E6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6280200" y="2559600"/>
            <a:ext cx="7556040" cy="18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85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Степан Тимофеевич Разин: Народный атаман и предводитель восстания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280200" y="4717440"/>
            <a:ext cx="75560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Легендарный донской казак, народный герой и предводитель крупнейшего крестьянско-казачьского восстания XVII века. Его имя стало символом борьбы за свободу и справедливость в русской истории.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Прямоугольник 4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793800" y="1234800"/>
            <a:ext cx="78382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85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Происхождение и ранние годы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793800" y="2331000"/>
            <a:ext cx="763164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Степан Разин родился около 1630 года в самом сердце донского казачества — предположительно в станице Зимовейская-на-Дону или Черкасске. Эти места издавна славились своими вольными традициями и независимым духом казачества.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793800" y="3779640"/>
            <a:ext cx="763164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Его отец, Тимофей Разин, был зажиточным донским казаком, уважаемым в казачьей среде. По некоторым сведениям, мать Степана была крымской татаркой-невольницей, что отражало многонациональный характер донского региона.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793800" y="5228640"/>
            <a:ext cx="763164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Уже в юности Степан проявил выдающиеся лидерские качества и смелость. Он активно участвовал в дипломатических миссиях казачьего войска, налаживал связи с различными станицами и принимал участие в военных походах, где приобрел бесценный боевой опыт и авторитет среди товарищей.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8917560" y="2375640"/>
            <a:ext cx="4926240" cy="350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4"/>
          <p:cNvSpPr/>
          <p:nvPr/>
        </p:nvSpPr>
        <p:spPr>
          <a:xfrm>
            <a:off x="8917560" y="6102360"/>
            <a:ext cx="49262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endParaRPr b="0" lang="en-US" sz="15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Прямоугольник 7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0"/>
          <p:cNvSpPr/>
          <p:nvPr/>
        </p:nvSpPr>
        <p:spPr>
          <a:xfrm>
            <a:off x="763560" y="950040"/>
            <a:ext cx="7290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450"/>
              </a:lnSpc>
              <a:tabLst>
                <a:tab algn="l" pos="0"/>
              </a:tabLst>
            </a:pPr>
            <a:r>
              <a:rPr b="1" lang="en-US" sz="355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Социальный контекст XVII века</a:t>
            </a:r>
            <a:endParaRPr b="0" lang="ru-RU" sz="3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763560" y="1788480"/>
            <a:ext cx="3717720" cy="3379680"/>
          </a:xfrm>
          <a:prstGeom prst="roundRect">
            <a:avLst>
              <a:gd name="adj" fmla="val 2253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952200" y="1977120"/>
            <a:ext cx="33343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Усиление крепостного права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952200" y="2369520"/>
            <a:ext cx="3340080" cy="261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«Соборное уложение» 1649 года стало переломным моментом в истории русского крестьянства. Документ закрепил пожизненный розыск беглых крестьян, фактически превратив их в собственность помещиков. Это вызвало массовое недовольство и побеги на окраины государства.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4662720" y="1788480"/>
            <a:ext cx="3717720" cy="3379680"/>
          </a:xfrm>
          <a:prstGeom prst="roundRect">
            <a:avLst>
              <a:gd name="adj" fmla="val 2253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4851360" y="1977120"/>
            <a:ext cx="33400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Рост социального напряжения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851360" y="2652840"/>
            <a:ext cx="3340080" cy="23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Недовольство среди казаков и крестьян нарастало с каждым годом. Ограничение казачьих вольностей, усиление самодержавной власти и попытки Москвы установить контроль над Доном создавали взрывоопасную обстановку на южных рубежах.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763560" y="5349600"/>
            <a:ext cx="7616880" cy="1929600"/>
          </a:xfrm>
          <a:prstGeom prst="roundRect">
            <a:avLst>
              <a:gd name="adj" fmla="val 3946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952200" y="5538600"/>
            <a:ext cx="2266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7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Раскол казачества</a:t>
            </a:r>
            <a:endParaRPr b="0" lang="ru-RU" sz="1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952200" y="5930640"/>
            <a:ext cx="7239240" cy="11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Донское казачество разделилось на «домовитых» — зажиточных казаков, владевших землей и имуществом, и «голутвенных» — бедных казаков без постоянного дохода. Этот внутренний конфликт обострял социальные противоречия и создавал благодатную почву для восстания.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10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793800" y="2660040"/>
            <a:ext cx="821124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15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Начало походов и набегов (1667–1669)</a:t>
            </a:r>
            <a:endParaRPr b="0" lang="ru-RU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793800" y="5559120"/>
            <a:ext cx="13042440" cy="22680"/>
          </a:xfrm>
          <a:prstGeom prst="roundRect">
            <a:avLst>
              <a:gd name="adj" fmla="val 309954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3990240" y="5052960"/>
            <a:ext cx="22680" cy="505800"/>
          </a:xfrm>
          <a:prstGeom prst="roundRect">
            <a:avLst>
              <a:gd name="adj" fmla="val 309954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3812040" y="5369400"/>
            <a:ext cx="379080" cy="379080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875040" y="5401080"/>
            <a:ext cx="2527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1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2947320" y="3440160"/>
            <a:ext cx="21085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049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Весна 1667 года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962280" y="3804840"/>
            <a:ext cx="607824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Разин собирает внушительный отряд из 2000 казаков для похода за «зипунами» — так казаки называли военную добычу. Целью стали богатые караваны на Волге и Яике, а также персидские берега Каспийского моря.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7303680" y="5559120"/>
            <a:ext cx="22680" cy="505800"/>
          </a:xfrm>
          <a:prstGeom prst="roundRect">
            <a:avLst>
              <a:gd name="adj" fmla="val 309954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7125120" y="5369400"/>
            <a:ext cx="379080" cy="379080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188480" y="5401080"/>
            <a:ext cx="2527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028920" y="6233760"/>
            <a:ext cx="25722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049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Захват Яицкого городка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275720" y="6598440"/>
            <a:ext cx="607824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Разин штурмом берет стратегически важный Яицкий городок, получая контроль над речными путями. Отсюда начинаются дерзкие набеги на персидские берега Каспия, где казаки захватывают богатую добычу и наносят поражение флоту Мамед-хана.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10617120" y="5052960"/>
            <a:ext cx="22680" cy="505800"/>
          </a:xfrm>
          <a:prstGeom prst="roundRect">
            <a:avLst>
              <a:gd name="adj" fmla="val 309954"/>
            </a:avLst>
          </a:prstGeom>
          <a:solidFill>
            <a:srgbClr val="c0c1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10438920" y="5369400"/>
            <a:ext cx="379080" cy="379080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10501920" y="5401080"/>
            <a:ext cx="2527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3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9306000" y="3440160"/>
            <a:ext cx="26445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049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Противостояние Москве</a:t>
            </a:r>
            <a:endParaRPr b="0" lang="ru-RU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7589160" y="3804840"/>
            <a:ext cx="607860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Московские власти пытаются остановить Разина, посылая войска и грамоты с требованиями прекратить разбой. Однако атаман не только игнорирует эти требования, но и укрепляет свою власть, привлекая все больше казаков и беглых крестьян под свои знамена.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Прямоугольник 19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793800" y="770400"/>
            <a:ext cx="105022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Восстание 1670–1671 годов: масштаб и цели</a:t>
            </a:r>
            <a:endParaRPr b="0" lang="ru-RU" sz="3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793800" y="1854360"/>
            <a:ext cx="5976360" cy="38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"/>
          <p:cNvSpPr/>
          <p:nvPr/>
        </p:nvSpPr>
        <p:spPr>
          <a:xfrm>
            <a:off x="7552800" y="1811880"/>
            <a:ext cx="629100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Весной 1670 года Разин переходит от набегов к открытому восстанию против царской власти. Его армия стремительно захватывает ключевые города Поволжья: Астрахань, Царицын, Саратов и Самару. Каждая победа привлекает новых сторонников.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7552800" y="3188520"/>
            <a:ext cx="6291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Разин выдвигает революционные для того времени призывы к равенству и борьбе с боярской властью. Его воззвания находят горячий отклик среди крестьян, городских низов, казаков и представителей этнических меньшинств — татар, чувашей, мордвы.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7552800" y="4866480"/>
            <a:ext cx="629100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Атаман планирует грандиозный поход на Москву для свержения угнетателей и установления справедливого порядка. Однако восстание сталкивается с серьезным сопротивлением царских войск и внутренними разногласиями среди восставших.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793800" y="6555240"/>
            <a:ext cx="93960" cy="93960"/>
          </a:xfrm>
          <a:prstGeom prst="roundRect">
            <a:avLst>
              <a:gd name="adj" fmla="val 485464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1076400" y="6455160"/>
            <a:ext cx="35175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4 Крупных города захвачены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076400" y="6863040"/>
            <a:ext cx="3907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Астрахань, Царицын, Саратов, Самара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5220000" y="6555240"/>
            <a:ext cx="93960" cy="93960"/>
          </a:xfrm>
          <a:prstGeom prst="roundRect">
            <a:avLst>
              <a:gd name="adj" fmla="val 485464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5502600" y="6455160"/>
            <a:ext cx="390744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200 тысяч Участников восстания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5502600" y="7157520"/>
            <a:ext cx="3907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На пике движения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9646200" y="6555240"/>
            <a:ext cx="93960" cy="93960"/>
          </a:xfrm>
          <a:prstGeom prst="roundRect">
            <a:avLst>
              <a:gd name="adj" fmla="val 485464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9928800" y="6455160"/>
            <a:ext cx="259524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 Года продолжалось</a:t>
            </a:r>
            <a:endParaRPr b="0" lang="ru-RU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9928800" y="6863040"/>
            <a:ext cx="3907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35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1670–1671 годы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Прямоугольник 15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6935040" y="1269000"/>
            <a:ext cx="69012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 rtl="1">
              <a:lnSpc>
                <a:spcPts val="485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Легенды и народный образ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9621360" y="2307240"/>
            <a:ext cx="4214880" cy="4674240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2286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13768200" y="2286000"/>
            <a:ext cx="91080" cy="46742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9842400" y="2507040"/>
            <a:ext cx="370404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Легенда о персидской княжне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9842400" y="3246480"/>
            <a:ext cx="370404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r" defTabSz="914400" rtl="1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Самая известная легенда рассказывает о жертвоприношении Разина ради единства казачества. Согласно преданию, атаман бросил свою возлюбленную — прекрасную персидскую княжну — в волны Волги-матушки, когда казаки стали роптать, что он забыл их ради женщины. Этот драматический поступок стал символом преданности казачьему братству</a:t>
            </a: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5207400" y="2286000"/>
            <a:ext cx="4214880" cy="4674240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2286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9354240" y="2286000"/>
            <a:ext cx="91080" cy="46742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5428800" y="2507040"/>
            <a:ext cx="370404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Герой фольклора и искусства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5428800" y="3246480"/>
            <a:ext cx="3704040" cy="28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Образ Степана Разина воспет в бесчисленных народных песнях, сказаниях и былинах, передававшихся из поколения в поколение. В 1908 году о нем был снят первый русский художественный фильм, что свидетельствует о непреходящей популярности народного героя</a:t>
            </a: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793800" y="2286000"/>
            <a:ext cx="4214880" cy="4674240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2286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4940640" y="2286000"/>
            <a:ext cx="91080" cy="46742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1015200" y="2507040"/>
            <a:ext cx="370404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Таинственные места и клады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1015200" y="3246480"/>
            <a:ext cx="3704040" cy="28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 Самарской области до сих пор сохранились места, овеянные легендами о Разине. Знаменитая пещера Степана Разина и другие локации связаны с преданиями о спрятанных сокровищах. Легенда о кладе атамана продолжает волновать воображение искателей приключений</a:t>
            </a: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Прямоугольник 14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793800" y="577080"/>
            <a:ext cx="396900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9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Поражение и казнь</a:t>
            </a:r>
            <a:endParaRPr b="0" lang="ru-RU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6845040" y="1490040"/>
            <a:ext cx="1584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01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6845040" y="1737000"/>
            <a:ext cx="6998760" cy="2268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6845040" y="1861920"/>
            <a:ext cx="2727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Предательство и пленение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6845040" y="2268720"/>
            <a:ext cx="6998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 1671 году, после поражения под Симбирском, Разин отступает на Дон. Здесь его предают «домовитые» казаки, лояльные царской власти. Атаман схвачен в станице Кагальницкой.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6845040" y="3308760"/>
            <a:ext cx="1584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02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6845040" y="3555360"/>
            <a:ext cx="6998760" cy="2268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6845040" y="3680640"/>
            <a:ext cx="198432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Путь в Москву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845040" y="4087080"/>
            <a:ext cx="6998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Связанного Разина доставляют в столицу через многочисленные города. Народ собирается посмотреть на легендарного атамана, но охрана не позволяет приблизиться.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6845040" y="5127120"/>
            <a:ext cx="1584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 Light"/>
                <a:ea typeface="Inter Light"/>
              </a:rPr>
              <a:t>03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6845040" y="5374080"/>
            <a:ext cx="6998760" cy="22680"/>
          </a:xfrm>
          <a:prstGeom prst="rect">
            <a:avLst/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6845040" y="5499000"/>
            <a:ext cx="27590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95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Казнь на Красной площади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6845040" y="5905800"/>
            <a:ext cx="6998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16 июня 1671 года на Красной площади состоялась публичная казнь. Разин принял смерть мужественно, став символом трагической судьбы народного бунтаря и мечты о свободе.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793800" y="7144200"/>
            <a:ext cx="130424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Восстание было жестоко подавлено царскими войсками. Тысячи участников казнены или сосланы. Однако память о Степане Разине не исчезла — она продолжала жить в сердцах народа и передаваться через песни и сказания.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Прямоугольник 16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60000" y="2160000"/>
            <a:ext cx="62928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793800" y="1496520"/>
            <a:ext cx="65710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85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Наследие Степана Разина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793800" y="2618640"/>
            <a:ext cx="98640" cy="98640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1091160" y="2513160"/>
            <a:ext cx="248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Символ свободы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5223960" y="2618640"/>
            <a:ext cx="98640" cy="98640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5521680" y="2513160"/>
            <a:ext cx="3884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Крупнейшее восстание допетровской эпохи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9654480" y="2618640"/>
            <a:ext cx="98640" cy="98640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9951840" y="2513160"/>
            <a:ext cx="3884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Герой фольклора, литературы и кино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793800" y="3636000"/>
            <a:ext cx="98640" cy="98640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1091160" y="3530520"/>
            <a:ext cx="52383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950" strike="noStrike" u="non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Памятники, улицы, музеи по всей России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793800" y="4063680"/>
            <a:ext cx="130424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Восстание Степана Разина стало крупнейшим крестьянско-казачьим бунтом допетровской России, потрясшим основы самодержавия. Хотя оно было подавлено, его эхо отозвалось в последующих народных движениях XVIII–XIX веков.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793800" y="4922280"/>
            <a:ext cx="130424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Разин навсегда остался в народной памяти как символ борьбы за свободу и справедливость. Его образ продолжает жить в фольклоре, литературе, живописи и кинематографе. Имя атамана носят улицы в Самаре и других городах, ему посвящены памятники и музейные экспозиции.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793800" y="6098040"/>
            <a:ext cx="130424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Легенды о Степане Разине продолжают вдохновлять новые поколения, напоминая о вечной мечте народа о свободе, равенстве и справедливости. Его история — это не просто страница прошлого, но живое наследие русской культуры.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3"/>
          <p:cNvSpPr/>
          <p:nvPr/>
        </p:nvSpPr>
        <p:spPr>
          <a:xfrm>
            <a:off x="12854880" y="7719120"/>
            <a:ext cx="1753920" cy="4888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LibreOffice/25.8.3.2$Windows_X86_64 LibreOffice_project/8ca8d55c161d602844f5428fa4b58097424e324e</Application>
  <AppVersion>15.0000</AppVersion>
  <Words>939</Words>
  <Paragraphs>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2025-12-11T18:15:25Z</dcterms:created>
  <dc:creator>Анастасия Кириллова</dc:creator>
  <dc:description/>
  <dc:language>ru-RU</dc:language>
  <cp:lastModifiedBy/>
  <dcterms:modified xsi:type="dcterms:W3CDTF">2025-12-12T09:45:36Z</dcterms:modified>
  <cp:revision>5</cp:revision>
  <dc:subject/>
  <dc:title>Слайд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Произвольный</vt:lpwstr>
  </property>
  <property fmtid="{D5CDD505-2E9C-101B-9397-08002B2CF9AE}" pid="4" name="Slides">
    <vt:i4>8</vt:i4>
  </property>
</Properties>
</file>