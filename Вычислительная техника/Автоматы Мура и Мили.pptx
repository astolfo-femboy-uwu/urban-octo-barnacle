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11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media/image2.png" ContentType="image/png"/>
  <Override PartName="/ppt/media/image13.png" ContentType="image/png"/>
  <Override PartName="/ppt/media/image6.svg" ContentType="image/svg"/>
  <Override PartName="/ppt/media/image18.png" ContentType="image/png"/>
  <Override PartName="/ppt/media/image1.png" ContentType="image/png"/>
  <Override PartName="/ppt/media/image4.png" ContentType="image/png"/>
  <Override PartName="/ppt/media/image25.svg" ContentType="image/svg"/>
  <Override PartName="/ppt/media/image15.png" ContentType="image/png"/>
  <Override PartName="/ppt/media/image3.png" ContentType="image/png"/>
  <Override PartName="/ppt/media/image8.svg" ContentType="image/svg"/>
  <Override PartName="/ppt/media/image5.png" ContentType="image/png"/>
  <Override PartName="/ppt/media/image7.png" ContentType="image/png"/>
  <Override PartName="/ppt/media/image10.png" ContentType="image/png"/>
  <Override PartName="/ppt/media/image9.png" ContentType="image/png"/>
  <Override PartName="/ppt/media/image21.svg" ContentType="image/svg"/>
  <Override PartName="/ppt/media/image11.png" ContentType="image/png"/>
  <Override PartName="/ppt/media/image12.png" ContentType="image/png"/>
  <Override PartName="/ppt/media/image22.png" ContentType="image/png"/>
  <Override PartName="/ppt/media/image24.png" ContentType="image/png"/>
  <Override PartName="/ppt/media/image14.svg" ContentType="image/svg"/>
  <Override PartName="/ppt/media/image16.png" ContentType="image/png"/>
  <Override PartName="/ppt/media/image17.png" ContentType="image/png"/>
  <Override PartName="/ppt/media/image19.png" ContentType="image/png"/>
  <Override PartName="/ppt/media/image20.png" ContentType="image/png"/>
  <Override PartName="/ppt/media/image23.svg" ContentType="image/svg"/>
  <Override PartName="/ppt/media/image26.png" ContentType="image/png"/>
  <Override PartName="/ppt/media/image27.png" ContentType="image/png"/>
  <Override PartName="/ppt/media/image28.png" ContentType="image/png"/>
  <Override PartName="/ppt/media/image29.png" ContentType="image/png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fonts/Font_2_Segoe_UI_Regular.fntdata" ContentType="application/x-fontdata"/>
  <Override PartName="/ppt/fonts/Font_1_Open_Sans_Bold.fntdata" ContentType="application/x-fontdata"/>
  <Override PartName="/ppt/fonts/Font_4_Segoe_UI_Italic.fntdata" ContentType="application/x-fontdata"/>
  <Override PartName="/ppt/fonts/Font_3_Segoe_UI_Bold.fntdata" ContentType="application/x-fontdata"/>
  <Override PartName="/ppt/fonts/Font_5_Segoe_UI_BoldItalic.fntdata" ContentType="application/x-fontdata"/>
  <Override PartName="/ppt/presProps.xml" ContentType="application/vnd.openxmlformats-officedocument.presentationml.presPro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4630400" cy="8229600"/>
  <p:notesSz cx="8229600" cy="14630400"/>
  <p:embeddedFontLst>
    <p:embeddedFont>
      <p:font typeface="Open Sans"/>
      <p:bold r:id="rId13"/>
    </p:embeddedFont>
    <p:embeddedFont>
      <p:font typeface="Calibri Light"/>
    </p:embeddedFont>
    <p:embeddedFont>
      <p:font typeface="Instrument Sans Medium"/>
    </p:embeddedFont>
    <p:embeddedFont>
      <p:font typeface="Instrument Sans Light"/>
    </p:embeddedFont>
    <p:embeddedFont>
      <p:font typeface="Lucida Sans"/>
    </p:embeddedFont>
    <p:embeddedFont>
      <p:font typeface="Microsoft YaHei"/>
    </p:embeddedFont>
    <p:embeddedFont>
      <p:font typeface="Segoe UI"/>
      <p:regular r:id="rId14"/>
      <p:bold r:id="rId15"/>
      <p:italic r:id="rId16"/>
      <p:boldItalic r:id="rId1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font" Target="fonts/Font_1_Open_Sans_Bold.fntdata"/><Relationship Id="rId14" Type="http://schemas.openxmlformats.org/officeDocument/2006/relationships/font" Target="fonts/Font_2_Segoe_UI_Regular.fntdata"/><Relationship Id="rId15" Type="http://schemas.openxmlformats.org/officeDocument/2006/relationships/font" Target="fonts/Font_3_Segoe_UI_Bold.fntdata"/><Relationship Id="rId16" Type="http://schemas.openxmlformats.org/officeDocument/2006/relationships/font" Target="fonts/Font_4_Segoe_UI_Italic.fntdata"/><Relationship Id="rId17" Type="http://schemas.openxmlformats.org/officeDocument/2006/relationships/font" Target="fonts/Font_5_Segoe_UI_BoldItalic.fntdata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перемещения страницы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&lt;верхний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64C2054-FDED-4C67-93A3-3B36A93A41AE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67EE2A8-8625-4DAB-AF91-CF103A776CB9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EF00CE-F05C-4171-AF30-1243CA612CF1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0C3EA6E-5634-4FDB-8542-DF805622CCC4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E60679-59D4-4AB4-8E96-DF15726DA849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D232E36-FBDD-4D2D-B805-9B687835CD94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A008ECB-2569-4EF3-B07E-15EF3F95E185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A8560C-F9D4-495E-AAB6-2BA392E72111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63A35D3-8100-4E96-8034-E377BB39CEDA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B279397-5BBA-494D-B9C8-856C7DCBD884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6640" cy="13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6640" cy="477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6640" cy="13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6640" cy="477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6640" cy="13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6640" cy="477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6640" cy="13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6640" cy="477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6640" cy="13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6640" cy="477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6640" cy="13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6640" cy="477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6640" cy="13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6640" cy="477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bfbfbf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864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08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1296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151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6640" cy="13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6640" cy="477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slideLayout" Target="../slideLayouts/slideLayout7.xml"/><Relationship Id="rId7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sv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slideLayout" Target="../slideLayouts/slideLayout9.xml"/><Relationship Id="rId7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10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svg"/><Relationship Id="rId3" Type="http://schemas.openxmlformats.org/officeDocument/2006/relationships/image" Target="../media/image22.png"/><Relationship Id="rId4" Type="http://schemas.openxmlformats.org/officeDocument/2006/relationships/image" Target="../media/image23.svg"/><Relationship Id="rId5" Type="http://schemas.openxmlformats.org/officeDocument/2006/relationships/image" Target="../media/image24.png"/><Relationship Id="rId6" Type="http://schemas.openxmlformats.org/officeDocument/2006/relationships/image" Target="../media/image25.sv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0"/>
          <p:cNvSpPr/>
          <p:nvPr/>
        </p:nvSpPr>
        <p:spPr>
          <a:xfrm>
            <a:off x="793800" y="2363760"/>
            <a:ext cx="13042080" cy="19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7699"/>
              </a:lnSpc>
              <a:tabLst>
                <a:tab algn="l" pos="0"/>
              </a:tabLst>
            </a:pPr>
            <a:r>
              <a:rPr b="0" lang="ru-RU" sz="615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Автоматы Мура и Мили: Основы и Применения</a:t>
            </a:r>
            <a:endParaRPr b="0" lang="ru-RU" sz="6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793800" y="5081760"/>
            <a:ext cx="130420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r">
              <a:lnSpc>
                <a:spcPts val="2849"/>
              </a:lnSpc>
              <a:tabLst>
                <a:tab algn="l" pos="0"/>
              </a:tabLst>
            </a:pPr>
            <a:r>
              <a:rPr b="0" lang="ru-RU" sz="21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Реферат подготовил студент группы БСТ2502 Кочкин Иван Владимирович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12780000" y="7560000"/>
            <a:ext cx="1799640" cy="539640"/>
          </a:xfrm>
          <a:prstGeom prst="rect">
            <a:avLst/>
          </a:prstGeom>
          <a:solidFill>
            <a:srgbClr val="1f1f1f"/>
          </a:solidFill>
          <a:ln w="0">
            <a:solidFill>
              <a:srgbClr val="1f1f1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0"/>
          <p:cNvSpPr/>
          <p:nvPr/>
        </p:nvSpPr>
        <p:spPr>
          <a:xfrm>
            <a:off x="793800" y="943200"/>
            <a:ext cx="825156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5550"/>
              </a:lnSpc>
              <a:tabLst>
                <a:tab algn="l" pos="0"/>
              </a:tabLst>
            </a:pPr>
            <a:r>
              <a:rPr b="0" lang="ru-RU" sz="445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Что такое конечный автомат?</a:t>
            </a:r>
            <a:endParaRPr b="0" lang="ru-RU" sz="4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"/>
          <p:cNvSpPr/>
          <p:nvPr/>
        </p:nvSpPr>
        <p:spPr>
          <a:xfrm>
            <a:off x="720000" y="2160000"/>
            <a:ext cx="7603560" cy="57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50000"/>
              </a:lnSpc>
              <a:tabLst>
                <a:tab algn="l" pos="408240"/>
              </a:tabLst>
            </a:pP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Включает в себя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408240"/>
              </a:tabLst>
            </a:pPr>
            <a:r>
              <a:rPr b="1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Состояния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408240"/>
              </a:tabLst>
            </a:pPr>
            <a:r>
              <a:rPr b="1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Входы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408240"/>
              </a:tabLst>
            </a:pPr>
            <a:r>
              <a:rPr b="1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Выходы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408240"/>
              </a:tabLst>
            </a:pP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Функции </a:t>
            </a:r>
            <a:r>
              <a:rPr b="1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переходов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408240"/>
              </a:tabLst>
            </a:pP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Функции </a:t>
            </a:r>
            <a:r>
              <a:rPr b="1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выходов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algn="l" pos="40824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dddddd"/>
              </a:buClr>
              <a:buSzPct val="45000"/>
              <a:buFont typeface="Wingdings" charset="2"/>
              <a:buChar char=""/>
              <a:tabLst>
                <a:tab algn="l" pos="408240"/>
              </a:tabLst>
            </a:pPr>
            <a:r>
              <a:rPr b="1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Начальное состояние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определяет </a:t>
            </a:r>
            <a:r>
              <a:rPr b="1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точку входа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в систему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dddddd"/>
              </a:buClr>
              <a:buSzPct val="45000"/>
              <a:buFont typeface="Wingdings" charset="2"/>
              <a:buChar char=""/>
              <a:tabLst>
                <a:tab algn="l" pos="408240"/>
              </a:tabLst>
            </a:pP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Функции </a:t>
            </a:r>
            <a:r>
              <a:rPr b="1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переходов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определяют следующее состояние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dddddd"/>
              </a:buClr>
              <a:buSzPct val="45000"/>
              <a:buFont typeface="Wingdings" charset="2"/>
              <a:buChar char=""/>
              <a:tabLst>
                <a:tab algn="l" pos="408240"/>
              </a:tabLst>
            </a:pP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Функции </a:t>
            </a:r>
            <a:r>
              <a:rPr b="1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выходов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определяют генерируемые сигналы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8"/>
          <p:cNvSpPr/>
          <p:nvPr/>
        </p:nvSpPr>
        <p:spPr>
          <a:xfrm>
            <a:off x="8958960" y="2196360"/>
            <a:ext cx="488412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49"/>
              </a:lnSpc>
              <a:tabLst>
                <a:tab algn="l" pos="0"/>
              </a:tabLst>
            </a:pP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Image 0" descr="preencoded.png"/>
          <p:cNvPicPr/>
          <p:nvPr/>
        </p:nvPicPr>
        <p:blipFill>
          <a:blip r:embed="rId1"/>
          <a:stretch/>
        </p:blipFill>
        <p:spPr>
          <a:xfrm>
            <a:off x="8958960" y="2160000"/>
            <a:ext cx="4884120" cy="2637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" name="Image 1" descr="preencoded.png"/>
          <p:cNvPicPr/>
          <p:nvPr/>
        </p:nvPicPr>
        <p:blipFill>
          <a:blip r:embed="rId2"/>
          <a:stretch/>
        </p:blipFill>
        <p:spPr>
          <a:xfrm>
            <a:off x="8958960" y="5425200"/>
            <a:ext cx="4884120" cy="105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"/>
          <p:cNvSpPr/>
          <p:nvPr/>
        </p:nvSpPr>
        <p:spPr>
          <a:xfrm>
            <a:off x="12830400" y="7689600"/>
            <a:ext cx="1799640" cy="539640"/>
          </a:xfrm>
          <a:prstGeom prst="rect">
            <a:avLst/>
          </a:prstGeom>
          <a:solidFill>
            <a:srgbClr val="1f1f1f"/>
          </a:solidFill>
          <a:ln w="0">
            <a:solidFill>
              <a:srgbClr val="1f1f1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5485680" cy="822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Text 0"/>
          <p:cNvSpPr/>
          <p:nvPr/>
        </p:nvSpPr>
        <p:spPr>
          <a:xfrm>
            <a:off x="6125400" y="804600"/>
            <a:ext cx="7865640" cy="11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noAutofit/>
          </a:bodyPr>
          <a:p>
            <a:pPr algn="ctr">
              <a:lnSpc>
                <a:spcPts val="4450"/>
              </a:lnSpc>
              <a:tabLst>
                <a:tab algn="l" pos="0"/>
              </a:tabLst>
            </a:pPr>
            <a:r>
              <a:rPr b="0" lang="ru-RU" sz="440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Автомат Мура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1"/>
          <p:cNvSpPr/>
          <p:nvPr/>
        </p:nvSpPr>
        <p:spPr>
          <a:xfrm>
            <a:off x="6125400" y="2219040"/>
            <a:ext cx="3841200" cy="2948760"/>
          </a:xfrm>
          <a:prstGeom prst="roundRect">
            <a:avLst>
              <a:gd name="adj" fmla="val 928"/>
            </a:avLst>
          </a:prstGeom>
          <a:solidFill>
            <a:srgbClr val="3e3e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6307920" y="2401560"/>
            <a:ext cx="546840" cy="546840"/>
          </a:xfrm>
          <a:prstGeom prst="roundRect">
            <a:avLst>
              <a:gd name="adj" fmla="val 16697626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3"/>
          <p:cNvSpPr/>
          <p:nvPr/>
        </p:nvSpPr>
        <p:spPr>
          <a:xfrm>
            <a:off x="6307920" y="3132000"/>
            <a:ext cx="341208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Стабильность выхода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6307920" y="3526560"/>
            <a:ext cx="3476160" cy="145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Выходно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сигнал определяется исключительно текущим состоянием автомата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5"/>
          <p:cNvSpPr/>
          <p:nvPr/>
        </p:nvSpPr>
        <p:spPr>
          <a:xfrm>
            <a:off x="10150200" y="2217240"/>
            <a:ext cx="3841200" cy="2948760"/>
          </a:xfrm>
          <a:prstGeom prst="roundRect">
            <a:avLst>
              <a:gd name="adj" fmla="val 928"/>
            </a:avLst>
          </a:prstGeom>
          <a:solidFill>
            <a:srgbClr val="3e3e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6"/>
          <p:cNvSpPr/>
          <p:nvPr/>
        </p:nvSpPr>
        <p:spPr>
          <a:xfrm>
            <a:off x="10332000" y="2401560"/>
            <a:ext cx="546840" cy="546840"/>
          </a:xfrm>
          <a:prstGeom prst="roundRect">
            <a:avLst>
              <a:gd name="adj" fmla="val 16697626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Image 2" descr="preencoded.png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425960" y="2495520"/>
            <a:ext cx="359640" cy="3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Text 7"/>
          <p:cNvSpPr/>
          <p:nvPr/>
        </p:nvSpPr>
        <p:spPr>
          <a:xfrm>
            <a:off x="10368000" y="3132000"/>
            <a:ext cx="349164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Задержка в такт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8"/>
          <p:cNvSpPr/>
          <p:nvPr/>
        </p:nvSpPr>
        <p:spPr>
          <a:xfrm>
            <a:off x="10332000" y="3526560"/>
            <a:ext cx="3476160" cy="145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Изменения выхода только после перехода в новое состояние, обычно с задержко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 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 один такт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9"/>
          <p:cNvSpPr/>
          <p:nvPr/>
        </p:nvSpPr>
        <p:spPr>
          <a:xfrm>
            <a:off x="6125400" y="5351400"/>
            <a:ext cx="7865640" cy="2388240"/>
          </a:xfrm>
          <a:prstGeom prst="roundRect">
            <a:avLst>
              <a:gd name="adj" fmla="val 1321"/>
            </a:avLst>
          </a:prstGeom>
          <a:solidFill>
            <a:srgbClr val="3e3e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0"/>
          <p:cNvSpPr/>
          <p:nvPr/>
        </p:nvSpPr>
        <p:spPr>
          <a:xfrm>
            <a:off x="6307920" y="5533920"/>
            <a:ext cx="546840" cy="546840"/>
          </a:xfrm>
          <a:prstGeom prst="roundRect">
            <a:avLst>
              <a:gd name="adj" fmla="val 16697626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" name="Image 3" descr="preencoded.png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401520" y="5627520"/>
            <a:ext cx="359640" cy="3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Text 11"/>
          <p:cNvSpPr/>
          <p:nvPr/>
        </p:nvSpPr>
        <p:spPr>
          <a:xfrm>
            <a:off x="7020000" y="5655240"/>
            <a:ext cx="665964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Пример: Светофор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2"/>
          <p:cNvSpPr/>
          <p:nvPr/>
        </p:nvSpPr>
        <p:spPr>
          <a:xfrm>
            <a:off x="6307920" y="6120000"/>
            <a:ext cx="7500600" cy="12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Классически пример — светофор, где сигнал зависит </a:t>
            </a: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исключительно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от текущего состояния светофора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12830400" y="7740000"/>
            <a:ext cx="1799640" cy="489240"/>
          </a:xfrm>
          <a:prstGeom prst="rect">
            <a:avLst/>
          </a:prstGeom>
          <a:solidFill>
            <a:srgbClr val="1f1f1f"/>
          </a:solidFill>
          <a:ln w="0">
            <a:solidFill>
              <a:srgbClr val="1f1f1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 0"/>
          <p:cNvSpPr/>
          <p:nvPr/>
        </p:nvSpPr>
        <p:spPr>
          <a:xfrm>
            <a:off x="5040000" y="611280"/>
            <a:ext cx="8811720" cy="13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 anchorCtr="1">
            <a:noAutofit/>
          </a:bodyPr>
          <a:p>
            <a:pPr algn="ctr">
              <a:lnSpc>
                <a:spcPts val="5451"/>
              </a:lnSpc>
              <a:tabLst>
                <a:tab algn="l" pos="0"/>
              </a:tabLst>
            </a:pPr>
            <a:r>
              <a:rPr b="0" lang="ru-RU" sz="435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Автомат Мили</a:t>
            </a:r>
            <a:endParaRPr b="0" lang="ru-RU" sz="4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" name="Image 0" descr="preencoded.png"/>
          <p:cNvPicPr/>
          <p:nvPr/>
        </p:nvPicPr>
        <p:blipFill>
          <a:blip r:embed="rId1"/>
          <a:srcRect l="26240" t="0" r="25632" b="0"/>
          <a:stretch/>
        </p:blipFill>
        <p:spPr>
          <a:xfrm>
            <a:off x="360" y="0"/>
            <a:ext cx="5039280" cy="82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"/>
          <p:cNvSpPr/>
          <p:nvPr/>
        </p:nvSpPr>
        <p:spPr>
          <a:xfrm>
            <a:off x="12830400" y="7683120"/>
            <a:ext cx="1799640" cy="539640"/>
          </a:xfrm>
          <a:prstGeom prst="rect">
            <a:avLst/>
          </a:prstGeom>
          <a:solidFill>
            <a:srgbClr val="1f1f1f"/>
          </a:solidFill>
          <a:ln w="0">
            <a:solidFill>
              <a:srgbClr val="1f1f1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4"/>
          <p:cNvSpPr/>
          <p:nvPr/>
        </p:nvSpPr>
        <p:spPr>
          <a:xfrm>
            <a:off x="6125400" y="2219400"/>
            <a:ext cx="3841200" cy="2948400"/>
          </a:xfrm>
          <a:prstGeom prst="roundRect">
            <a:avLst>
              <a:gd name="adj" fmla="val 928"/>
            </a:avLst>
          </a:prstGeom>
          <a:solidFill>
            <a:srgbClr val="3e3e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15"/>
          <p:cNvSpPr/>
          <p:nvPr/>
        </p:nvSpPr>
        <p:spPr>
          <a:xfrm>
            <a:off x="10150200" y="2219400"/>
            <a:ext cx="3841200" cy="2948760"/>
          </a:xfrm>
          <a:prstGeom prst="roundRect">
            <a:avLst>
              <a:gd name="adj" fmla="val 928"/>
            </a:avLst>
          </a:prstGeom>
          <a:solidFill>
            <a:srgbClr val="3e3e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9"/>
          <p:cNvSpPr/>
          <p:nvPr/>
        </p:nvSpPr>
        <p:spPr>
          <a:xfrm>
            <a:off x="6120000" y="5400000"/>
            <a:ext cx="7866000" cy="2386800"/>
          </a:xfrm>
          <a:prstGeom prst="roundRect">
            <a:avLst>
              <a:gd name="adj" fmla="val 1321"/>
            </a:avLst>
          </a:prstGeom>
          <a:solidFill>
            <a:srgbClr val="3e3e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0"/>
          <p:cNvSpPr/>
          <p:nvPr/>
        </p:nvSpPr>
        <p:spPr>
          <a:xfrm>
            <a:off x="6307560" y="2401560"/>
            <a:ext cx="546840" cy="546840"/>
          </a:xfrm>
          <a:prstGeom prst="roundRect">
            <a:avLst>
              <a:gd name="adj" fmla="val 16697626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1"/>
          <p:cNvSpPr/>
          <p:nvPr/>
        </p:nvSpPr>
        <p:spPr>
          <a:xfrm>
            <a:off x="10332360" y="2401560"/>
            <a:ext cx="546840" cy="546840"/>
          </a:xfrm>
          <a:prstGeom prst="roundRect">
            <a:avLst>
              <a:gd name="adj" fmla="val 16697626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22"/>
          <p:cNvSpPr/>
          <p:nvPr/>
        </p:nvSpPr>
        <p:spPr>
          <a:xfrm>
            <a:off x="6307560" y="5533560"/>
            <a:ext cx="546840" cy="546840"/>
          </a:xfrm>
          <a:prstGeom prst="roundRect">
            <a:avLst>
              <a:gd name="adj" fmla="val 16697626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8"/>
          <p:cNvSpPr/>
          <p:nvPr/>
        </p:nvSpPr>
        <p:spPr>
          <a:xfrm>
            <a:off x="7020360" y="5655240"/>
            <a:ext cx="665964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Пример: Торговый автомат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22"/>
          <p:cNvSpPr/>
          <p:nvPr/>
        </p:nvSpPr>
        <p:spPr>
          <a:xfrm>
            <a:off x="6307920" y="3132000"/>
            <a:ext cx="341208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Мгновенная реакция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3"/>
          <p:cNvSpPr/>
          <p:nvPr/>
        </p:nvSpPr>
        <p:spPr>
          <a:xfrm>
            <a:off x="10368360" y="3132000"/>
            <a:ext cx="349164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Выходы и переходы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1"/>
          <p:cNvSpPr/>
          <p:nvPr/>
        </p:nvSpPr>
        <p:spPr>
          <a:xfrm>
            <a:off x="6307920" y="3526920"/>
            <a:ext cx="3476160" cy="145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Выходно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сигнал изменяется </a:t>
            </a: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мгновенно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, так как выход зависит </a:t>
            </a: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и от состояния, и от входа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4"/>
          <p:cNvSpPr/>
          <p:nvPr/>
        </p:nvSpPr>
        <p:spPr>
          <a:xfrm>
            <a:off x="10332000" y="3526920"/>
            <a:ext cx="3476160" cy="145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Выходы </a:t>
            </a: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привязаны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к </a:t>
            </a: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переходам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между состояниями, а не к самим состояниям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Open Sans"/>
            </a:endParaRPr>
          </a:p>
        </p:txBody>
      </p:sp>
      <p:sp>
        <p:nvSpPr>
          <p:cNvPr id="91" name="Text 25"/>
          <p:cNvSpPr/>
          <p:nvPr/>
        </p:nvSpPr>
        <p:spPr>
          <a:xfrm>
            <a:off x="6308280" y="6120360"/>
            <a:ext cx="7500600" cy="12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Товар выдается (</a:t>
            </a: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выход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) в момент, когда есть определенная </a:t>
            </a: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комбинация состояния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(«внесена достаточная сумма») и </a:t>
            </a: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входа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(«нажата кнопка выбора товара»)</a:t>
            </a:r>
            <a:endParaRPr b="0" lang="ru-RU" sz="2000" strike="noStrike" u="none">
              <a:solidFill>
                <a:srgbClr val="bfbfbf"/>
              </a:solidFill>
              <a:effectLst/>
              <a:uFillTx/>
              <a:latin typeface="Arial"/>
            </a:endParaRPr>
          </a:p>
        </p:txBody>
      </p:sp>
      <p:pic>
        <p:nvPicPr>
          <p:cNvPr id="92" name="" descr=""/>
          <p:cNvPicPr/>
          <p:nvPr/>
        </p:nvPicPr>
        <p:blipFill>
          <a:blip r:embed="rId2"/>
          <a:stretch/>
        </p:blipFill>
        <p:spPr>
          <a:xfrm>
            <a:off x="6400800" y="5614200"/>
            <a:ext cx="360000" cy="385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" name="" descr=""/>
          <p:cNvPicPr/>
          <p:nvPr/>
        </p:nvPicPr>
        <p:blipFill>
          <a:blip r:embed="rId3"/>
          <a:stretch/>
        </p:blipFill>
        <p:spPr>
          <a:xfrm>
            <a:off x="6400800" y="2505240"/>
            <a:ext cx="360000" cy="338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4" name="" descr=""/>
          <p:cNvPicPr/>
          <p:nvPr/>
        </p:nvPicPr>
        <p:blipFill>
          <a:blip r:embed="rId4"/>
          <a:stretch/>
        </p:blipFill>
        <p:spPr>
          <a:xfrm>
            <a:off x="10479600" y="2422800"/>
            <a:ext cx="252000" cy="504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 0"/>
          <p:cNvSpPr/>
          <p:nvPr/>
        </p:nvSpPr>
        <p:spPr>
          <a:xfrm>
            <a:off x="793800" y="914760"/>
            <a:ext cx="121795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 anchorCtr="1">
            <a:noAutofit/>
          </a:bodyPr>
          <a:p>
            <a:pPr algn="ctr">
              <a:lnSpc>
                <a:spcPts val="5550"/>
              </a:lnSpc>
              <a:tabLst>
                <a:tab algn="l" pos="0"/>
              </a:tabLst>
            </a:pPr>
            <a:r>
              <a:rPr b="0" lang="ru-RU" sz="445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Ключевые Отличия Автоматов Мура и Мили</a:t>
            </a:r>
            <a:endParaRPr b="0" lang="ru-RU" sz="4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1"/>
          <p:cNvSpPr/>
          <p:nvPr/>
        </p:nvSpPr>
        <p:spPr>
          <a:xfrm>
            <a:off x="793800" y="2643840"/>
            <a:ext cx="6407280" cy="1699920"/>
          </a:xfrm>
          <a:prstGeom prst="roundRect">
            <a:avLst>
              <a:gd name="adj" fmla="val 7170"/>
            </a:avLst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"/>
          <p:cNvSpPr/>
          <p:nvPr/>
        </p:nvSpPr>
        <p:spPr>
          <a:xfrm>
            <a:off x="793800" y="2273400"/>
            <a:ext cx="6407280" cy="121320"/>
          </a:xfrm>
          <a:prstGeom prst="roundRect">
            <a:avLst>
              <a:gd name="adj" fmla="val 27907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3"/>
          <p:cNvSpPr/>
          <p:nvPr/>
        </p:nvSpPr>
        <p:spPr>
          <a:xfrm>
            <a:off x="3657600" y="1963800"/>
            <a:ext cx="679680" cy="679680"/>
          </a:xfrm>
          <a:prstGeom prst="roundRect">
            <a:avLst>
              <a:gd name="adj" fmla="val 134383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860280" y="216828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Text 4"/>
          <p:cNvSpPr/>
          <p:nvPr/>
        </p:nvSpPr>
        <p:spPr>
          <a:xfrm>
            <a:off x="1051200" y="2871000"/>
            <a:ext cx="289080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0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Зависимость Выхода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5"/>
          <p:cNvSpPr/>
          <p:nvPr/>
        </p:nvSpPr>
        <p:spPr>
          <a:xfrm>
            <a:off x="1051200" y="3361320"/>
            <a:ext cx="5892480" cy="72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>
              <a:lnSpc>
                <a:spcPts val="2849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 </a:t>
            </a:r>
            <a:r>
              <a:rPr b="0" lang="ru-RU" sz="175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автомате Мура</a:t>
            </a: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выход зависит только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ts val="2849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 </a:t>
            </a:r>
            <a:r>
              <a:rPr b="0" lang="ru-RU" sz="175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автомате Мили</a:t>
            </a: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— от состояния и входа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7"/>
          <p:cNvSpPr/>
          <p:nvPr/>
        </p:nvSpPr>
        <p:spPr>
          <a:xfrm>
            <a:off x="7428600" y="2273400"/>
            <a:ext cx="6407280" cy="121320"/>
          </a:xfrm>
          <a:prstGeom prst="roundRect">
            <a:avLst>
              <a:gd name="adj" fmla="val 27907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8"/>
          <p:cNvSpPr/>
          <p:nvPr/>
        </p:nvSpPr>
        <p:spPr>
          <a:xfrm>
            <a:off x="10299960" y="1963800"/>
            <a:ext cx="679680" cy="679680"/>
          </a:xfrm>
          <a:prstGeom prst="roundRect">
            <a:avLst>
              <a:gd name="adj" fmla="val 134383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9"/>
          <p:cNvSpPr/>
          <p:nvPr/>
        </p:nvSpPr>
        <p:spPr>
          <a:xfrm>
            <a:off x="7686000" y="2871000"/>
            <a:ext cx="351324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0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Местоположение Выхода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0"/>
          <p:cNvSpPr/>
          <p:nvPr/>
        </p:nvSpPr>
        <p:spPr>
          <a:xfrm>
            <a:off x="7686000" y="3240000"/>
            <a:ext cx="5892840" cy="14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>
              <a:lnSpc>
                <a:spcPts val="2849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Выходы </a:t>
            </a:r>
            <a:r>
              <a:rPr b="0" lang="ru-RU" sz="175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автомата Мура</a:t>
            </a: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ассоциированы с состояниями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ts val="2849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Выходы </a:t>
            </a:r>
            <a:r>
              <a:rPr b="0" lang="ru-RU" sz="175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автомата Мили</a:t>
            </a: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— с переходами между состояниями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1"/>
          <p:cNvSpPr/>
          <p:nvPr/>
        </p:nvSpPr>
        <p:spPr>
          <a:xfrm>
            <a:off x="793800" y="5220000"/>
            <a:ext cx="6407280" cy="2094120"/>
          </a:xfrm>
          <a:prstGeom prst="roundRect">
            <a:avLst>
              <a:gd name="adj" fmla="val 6087"/>
            </a:avLst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12"/>
          <p:cNvSpPr/>
          <p:nvPr/>
        </p:nvSpPr>
        <p:spPr>
          <a:xfrm>
            <a:off x="793800" y="4880880"/>
            <a:ext cx="6407280" cy="121320"/>
          </a:xfrm>
          <a:prstGeom prst="roundRect">
            <a:avLst>
              <a:gd name="adj" fmla="val 27907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13"/>
          <p:cNvSpPr/>
          <p:nvPr/>
        </p:nvSpPr>
        <p:spPr>
          <a:xfrm>
            <a:off x="3656160" y="4570560"/>
            <a:ext cx="679680" cy="679680"/>
          </a:xfrm>
          <a:prstGeom prst="roundRect">
            <a:avLst>
              <a:gd name="adj" fmla="val 134383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4"/>
          <p:cNvSpPr/>
          <p:nvPr/>
        </p:nvSpPr>
        <p:spPr>
          <a:xfrm>
            <a:off x="1051200" y="5478480"/>
            <a:ext cx="283464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0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Задержка Реакции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5"/>
          <p:cNvSpPr/>
          <p:nvPr/>
        </p:nvSpPr>
        <p:spPr>
          <a:xfrm>
            <a:off x="1051200" y="5968800"/>
            <a:ext cx="5892480" cy="10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>
              <a:lnSpc>
                <a:spcPts val="2849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75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 Мили</a:t>
            </a: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обеспечивает мгновенную реакцию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ts val="2849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 </a:t>
            </a:r>
            <a:r>
              <a:rPr b="0" lang="ru-RU" sz="175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автомате Мура</a:t>
            </a: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выход задерживается на такт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6"/>
          <p:cNvSpPr/>
          <p:nvPr/>
        </p:nvSpPr>
        <p:spPr>
          <a:xfrm>
            <a:off x="7428600" y="5251320"/>
            <a:ext cx="6407280" cy="2062800"/>
          </a:xfrm>
          <a:prstGeom prst="roundRect">
            <a:avLst>
              <a:gd name="adj" fmla="val 6087"/>
            </a:avLst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17"/>
          <p:cNvSpPr/>
          <p:nvPr/>
        </p:nvSpPr>
        <p:spPr>
          <a:xfrm>
            <a:off x="7428600" y="4880880"/>
            <a:ext cx="6407280" cy="121320"/>
          </a:xfrm>
          <a:prstGeom prst="roundRect">
            <a:avLst>
              <a:gd name="adj" fmla="val 27907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8"/>
          <p:cNvSpPr/>
          <p:nvPr/>
        </p:nvSpPr>
        <p:spPr>
          <a:xfrm>
            <a:off x="10292400" y="4571280"/>
            <a:ext cx="679680" cy="679680"/>
          </a:xfrm>
          <a:prstGeom prst="roundRect">
            <a:avLst>
              <a:gd name="adj" fmla="val 134383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9"/>
          <p:cNvSpPr/>
          <p:nvPr/>
        </p:nvSpPr>
        <p:spPr>
          <a:xfrm>
            <a:off x="7686000" y="5478480"/>
            <a:ext cx="283464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0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Преобразования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0"/>
          <p:cNvSpPr/>
          <p:nvPr/>
        </p:nvSpPr>
        <p:spPr>
          <a:xfrm>
            <a:off x="7686000" y="5968800"/>
            <a:ext cx="5892840" cy="10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>
              <a:lnSpc>
                <a:spcPct val="100000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408240"/>
              </a:tabLst>
            </a:pPr>
            <a:r>
              <a:rPr b="0" lang="ru-RU" sz="175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</a:t>
            </a: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</a:t>
            </a:r>
            <a:r>
              <a:rPr b="0" lang="ru-RU" sz="1750" strike="noStrike" u="none">
                <a:solidFill>
                  <a:srgbClr val="f5f547"/>
                </a:solidFill>
                <a:effectLst/>
                <a:uFillTx/>
                <a:latin typeface="Open Sans"/>
                <a:ea typeface="Segoe UI"/>
              </a:rPr>
              <a:t>Мили</a:t>
            </a: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может быть преобразован в </a:t>
            </a:r>
            <a:r>
              <a:rPr b="0" lang="ru-RU" sz="175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 Мура</a:t>
            </a: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и наоборот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12830400" y="7689600"/>
            <a:ext cx="1799640" cy="539640"/>
          </a:xfrm>
          <a:prstGeom prst="rect">
            <a:avLst/>
          </a:prstGeom>
          <a:solidFill>
            <a:srgbClr val="1f1f1f"/>
          </a:solidFill>
          <a:ln w="0">
            <a:solidFill>
              <a:srgbClr val="1f1f1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7" name="" descr=""/>
          <p:cNvPicPr/>
          <p:nvPr/>
        </p:nvPicPr>
        <p:blipFill>
          <a:blip r:embed="rId3"/>
          <a:stretch/>
        </p:blipFill>
        <p:spPr>
          <a:xfrm>
            <a:off x="10450800" y="4730400"/>
            <a:ext cx="359640" cy="35964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</p:pic>
      <p:pic>
        <p:nvPicPr>
          <p:cNvPr id="118" name="" descr=""/>
          <p:cNvPicPr/>
          <p:nvPr/>
        </p:nvPicPr>
        <p:blipFill>
          <a:blip r:embed="rId4"/>
          <a:stretch/>
        </p:blipFill>
        <p:spPr>
          <a:xfrm>
            <a:off x="10506600" y="2124000"/>
            <a:ext cx="269640" cy="35964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</p:pic>
      <p:pic>
        <p:nvPicPr>
          <p:cNvPr id="119" name="" descr=""/>
          <p:cNvPicPr/>
          <p:nvPr/>
        </p:nvPicPr>
        <p:blipFill>
          <a:blip r:embed="rId5"/>
          <a:stretch/>
        </p:blipFill>
        <p:spPr>
          <a:xfrm>
            <a:off x="3816000" y="4705200"/>
            <a:ext cx="359640" cy="41004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 0"/>
          <p:cNvSpPr/>
          <p:nvPr/>
        </p:nvSpPr>
        <p:spPr>
          <a:xfrm>
            <a:off x="1440000" y="540000"/>
            <a:ext cx="6702480" cy="59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 anchorCtr="1">
            <a:noAutofit/>
          </a:bodyPr>
          <a:p>
            <a:pPr algn="ctr">
              <a:lnSpc>
                <a:spcPts val="4649"/>
              </a:lnSpc>
              <a:tabLst>
                <a:tab algn="l" pos="0"/>
              </a:tabLst>
            </a:pPr>
            <a:r>
              <a:rPr b="0" lang="ru-RU" sz="440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Графическое Представление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"/>
          <p:cNvSpPr/>
          <p:nvPr/>
        </p:nvSpPr>
        <p:spPr>
          <a:xfrm>
            <a:off x="2711880" y="1621800"/>
            <a:ext cx="285588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 anchorCtr="1">
            <a:noAutofit/>
          </a:bodyPr>
          <a:p>
            <a:pPr algn="ctr">
              <a:lnSpc>
                <a:spcPts val="2801"/>
              </a:lnSpc>
              <a:tabLst>
                <a:tab algn="l" pos="0"/>
              </a:tabLst>
            </a:pPr>
            <a:r>
              <a:rPr b="1" lang="ru-RU" sz="3200" strike="noStrike" u="none">
                <a:solidFill>
                  <a:srgbClr val="f5f547"/>
                </a:solidFill>
                <a:effectLst/>
                <a:uFillTx/>
                <a:latin typeface="Instrument Sans Medium"/>
                <a:ea typeface="Instrument Sans Medium"/>
              </a:rPr>
              <a:t>Автомат Мура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"/>
          <p:cNvSpPr/>
          <p:nvPr/>
        </p:nvSpPr>
        <p:spPr>
          <a:xfrm>
            <a:off x="1980000" y="2160000"/>
            <a:ext cx="5039640" cy="170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2350"/>
              </a:lnSpc>
              <a:tabLst>
                <a:tab algn="l" pos="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Круги — выходные сигналы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Стрелки — переходы между состояниями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3" name="Image 0" descr="preencoded.png"/>
          <p:cNvPicPr/>
          <p:nvPr/>
        </p:nvPicPr>
        <p:blipFill>
          <a:blip r:embed="rId1"/>
          <a:stretch/>
        </p:blipFill>
        <p:spPr>
          <a:xfrm>
            <a:off x="1980000" y="3960000"/>
            <a:ext cx="4319640" cy="388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Text 3"/>
          <p:cNvSpPr/>
          <p:nvPr/>
        </p:nvSpPr>
        <p:spPr>
          <a:xfrm>
            <a:off x="9191880" y="1621800"/>
            <a:ext cx="285588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 anchorCtr="1">
            <a:noAutofit/>
          </a:bodyPr>
          <a:p>
            <a:pPr algn="ctr">
              <a:lnSpc>
                <a:spcPts val="2801"/>
              </a:lnSpc>
              <a:tabLst>
                <a:tab algn="l" pos="0"/>
              </a:tabLst>
            </a:pPr>
            <a:r>
              <a:rPr b="1" lang="ru-RU" sz="3200" strike="noStrike" u="none">
                <a:solidFill>
                  <a:srgbClr val="f5f547"/>
                </a:solidFill>
                <a:effectLst/>
                <a:uFillTx/>
                <a:latin typeface="Instrument Sans Medium"/>
                <a:ea typeface="Instrument Sans Medium"/>
              </a:rPr>
              <a:t>Автомат Мили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4"/>
          <p:cNvSpPr/>
          <p:nvPr/>
        </p:nvSpPr>
        <p:spPr>
          <a:xfrm>
            <a:off x="7920000" y="2160000"/>
            <a:ext cx="557964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Стрелки — переходы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На каждом ребре пара "вход/выход"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Image 1" descr="preencoded.png"/>
          <p:cNvPicPr/>
          <p:nvPr/>
        </p:nvPicPr>
        <p:blipFill>
          <a:blip r:embed="rId2"/>
          <a:stretch/>
        </p:blipFill>
        <p:spPr>
          <a:xfrm>
            <a:off x="7964280" y="3960000"/>
            <a:ext cx="5355360" cy="318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"/>
          <p:cNvSpPr/>
          <p:nvPr/>
        </p:nvSpPr>
        <p:spPr>
          <a:xfrm>
            <a:off x="12871440" y="7689600"/>
            <a:ext cx="1758600" cy="539640"/>
          </a:xfrm>
          <a:prstGeom prst="rect">
            <a:avLst/>
          </a:prstGeom>
          <a:solidFill>
            <a:srgbClr val="1f1f1f"/>
          </a:solidFill>
          <a:ln w="0">
            <a:solidFill>
              <a:srgbClr val="1f1f1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1980000" y="2160000"/>
            <a:ext cx="4320000" cy="360"/>
          </a:xfrm>
          <a:prstGeom prst="line">
            <a:avLst/>
          </a:prstGeom>
          <a:ln w="0">
            <a:solidFill>
              <a:srgbClr val="bfbfb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7920000" y="2160000"/>
            <a:ext cx="5400000" cy="360"/>
          </a:xfrm>
          <a:prstGeom prst="line">
            <a:avLst/>
          </a:prstGeom>
          <a:ln w="0">
            <a:solidFill>
              <a:srgbClr val="bfbfb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790200" y="622080"/>
            <a:ext cx="13049280" cy="14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5550"/>
              </a:lnSpc>
              <a:tabLst>
                <a:tab algn="l" pos="0"/>
              </a:tabLst>
            </a:pPr>
            <a:r>
              <a:rPr b="0" lang="ru-RU" sz="445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Пример: </a:t>
            </a:r>
            <a:r>
              <a:rPr b="0" lang="ru-RU" sz="4450" strike="noStrike" u="none">
                <a:solidFill>
                  <a:srgbClr val="f5f547"/>
                </a:solidFill>
                <a:effectLst/>
                <a:uFillTx/>
                <a:latin typeface="Instrument Sans Medium"/>
                <a:ea typeface="Instrument Sans Medium"/>
              </a:rPr>
              <a:t>Автомат Мура</a:t>
            </a:r>
            <a:r>
              <a:rPr b="0" lang="ru-RU" sz="445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, регулирующий пешеходный переход</a:t>
            </a:r>
            <a:endParaRPr b="0" lang="ru-RU" sz="4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790200" y="2484720"/>
            <a:ext cx="22500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01"/>
              </a:lnSpc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Instrument Sans Light"/>
                <a:ea typeface="Instrument Sans Light"/>
              </a:rPr>
              <a:t>01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790200" y="2838240"/>
            <a:ext cx="4198680" cy="29880"/>
          </a:xfrm>
          <a:prstGeom prst="rect">
            <a:avLst/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4400" bIns="-144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790200" y="3011760"/>
            <a:ext cx="424944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Исходное Состояние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4"/>
          <p:cNvSpPr/>
          <p:nvPr/>
        </p:nvSpPr>
        <p:spPr>
          <a:xfrm>
            <a:off x="790200" y="3499920"/>
            <a:ext cx="4198680" cy="15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Зелены</a:t>
            </a:r>
            <a:r>
              <a:rPr b="1" lang="ru-RU" sz="21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свет для транспорта, красны</a:t>
            </a:r>
            <a:r>
              <a:rPr b="1" lang="ru-RU" sz="21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для пешеходов. Движение автомобиле</a:t>
            </a:r>
            <a:r>
              <a:rPr b="1" lang="ru-RU" sz="21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разрешено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135" name="Text 5"/>
          <p:cNvSpPr/>
          <p:nvPr/>
        </p:nvSpPr>
        <p:spPr>
          <a:xfrm>
            <a:off x="5215320" y="2484720"/>
            <a:ext cx="22500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01"/>
              </a:lnSpc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Instrument Sans Light"/>
                <a:ea typeface="Instrument Sans Light"/>
              </a:rPr>
              <a:t>02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6"/>
          <p:cNvSpPr/>
          <p:nvPr/>
        </p:nvSpPr>
        <p:spPr>
          <a:xfrm>
            <a:off x="5215320" y="2838240"/>
            <a:ext cx="4198680" cy="29880"/>
          </a:xfrm>
          <a:prstGeom prst="rect">
            <a:avLst/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4400" bIns="-144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5215320" y="3011760"/>
            <a:ext cx="414432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Запрос Пешехода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5215320" y="3499920"/>
            <a:ext cx="4198680" cy="15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Пешеход нажимает кнопку вызова. Автомат регистрирует запрос, но не меняет состояние немедленно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139" name="Text 9"/>
          <p:cNvSpPr/>
          <p:nvPr/>
        </p:nvSpPr>
        <p:spPr>
          <a:xfrm>
            <a:off x="9640440" y="2484720"/>
            <a:ext cx="22500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01"/>
              </a:lnSpc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Instrument Sans Light"/>
                <a:ea typeface="Instrument Sans Light"/>
              </a:rPr>
              <a:t>03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9640440" y="2838240"/>
            <a:ext cx="4198680" cy="29880"/>
          </a:xfrm>
          <a:prstGeom prst="rect">
            <a:avLst/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4400" bIns="-144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1"/>
          <p:cNvSpPr/>
          <p:nvPr/>
        </p:nvSpPr>
        <p:spPr>
          <a:xfrm>
            <a:off x="9640440" y="3011760"/>
            <a:ext cx="421920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Переключение на Желтый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9640440" y="3499920"/>
            <a:ext cx="4198680" cy="15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После определенного та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м-аута или завершения цикла движения транспорта, светофор переключается на желты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для автомобиле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790200" y="5339520"/>
            <a:ext cx="22500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01"/>
              </a:lnSpc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Instrument Sans Light"/>
                <a:ea typeface="Instrument Sans Light"/>
              </a:rPr>
              <a:t>04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4"/>
          <p:cNvSpPr/>
          <p:nvPr/>
        </p:nvSpPr>
        <p:spPr>
          <a:xfrm>
            <a:off x="790200" y="5692680"/>
            <a:ext cx="6411240" cy="29880"/>
          </a:xfrm>
          <a:prstGeom prst="rect">
            <a:avLst/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4400" bIns="-144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5"/>
          <p:cNvSpPr/>
          <p:nvPr/>
        </p:nvSpPr>
        <p:spPr>
          <a:xfrm>
            <a:off x="790200" y="5866560"/>
            <a:ext cx="640944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Зеленый для Пешеходов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6"/>
          <p:cNvSpPr/>
          <p:nvPr/>
        </p:nvSpPr>
        <p:spPr>
          <a:xfrm>
            <a:off x="790200" y="6354720"/>
            <a:ext cx="6411240" cy="10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</a:pP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Красны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для транспорта, зелены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для пешеходов. Выходно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сигнал полностью определяется этим новым состоянием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7"/>
          <p:cNvSpPr/>
          <p:nvPr/>
        </p:nvSpPr>
        <p:spPr>
          <a:xfrm>
            <a:off x="7428240" y="5339520"/>
            <a:ext cx="22500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01"/>
              </a:lnSpc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Instrument Sans Light"/>
                <a:ea typeface="Instrument Sans Light"/>
              </a:rPr>
              <a:t>05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8"/>
          <p:cNvSpPr/>
          <p:nvPr/>
        </p:nvSpPr>
        <p:spPr>
          <a:xfrm>
            <a:off x="7428240" y="5692680"/>
            <a:ext cx="6411240" cy="29880"/>
          </a:xfrm>
          <a:prstGeom prst="rect">
            <a:avLst/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4400" bIns="-144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7428240" y="5866560"/>
            <a:ext cx="643140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Возврат к Исходному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7428240" y="6354720"/>
            <a:ext cx="6411240" cy="10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Через заданное время светофор возвращается в исходное состояние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12780000" y="7740000"/>
            <a:ext cx="1850040" cy="489240"/>
          </a:xfrm>
          <a:prstGeom prst="rect">
            <a:avLst/>
          </a:prstGeom>
          <a:solidFill>
            <a:srgbClr val="1f1f1f"/>
          </a:solidFill>
          <a:ln w="0">
            <a:solidFill>
              <a:srgbClr val="1f1f1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 0"/>
          <p:cNvSpPr/>
          <p:nvPr/>
        </p:nvSpPr>
        <p:spPr>
          <a:xfrm>
            <a:off x="793800" y="1110960"/>
            <a:ext cx="1304208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5550"/>
              </a:lnSpc>
              <a:tabLst>
                <a:tab algn="l" pos="0"/>
              </a:tabLst>
            </a:pPr>
            <a:r>
              <a:rPr b="0" lang="ru-RU" sz="445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Применение в Цифровой Технике и Программировании</a:t>
            </a:r>
            <a:endParaRPr b="0" lang="ru-RU" sz="4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3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93800" y="2982240"/>
            <a:ext cx="566280" cy="56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Text 1"/>
          <p:cNvSpPr/>
          <p:nvPr/>
        </p:nvSpPr>
        <p:spPr>
          <a:xfrm>
            <a:off x="720000" y="4500000"/>
            <a:ext cx="431964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 anchorCtr="1">
            <a:noAutofit/>
          </a:bodyPr>
          <a:p>
            <a:pPr algn="ctr">
              <a:lnSpc>
                <a:spcPts val="2750"/>
              </a:lnSpc>
              <a:tabLst>
                <a:tab algn="l" pos="0"/>
              </a:tabLst>
            </a:pPr>
            <a:r>
              <a:rPr b="1" lang="ru-RU" sz="28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Микроконтроллеры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"/>
          <p:cNvSpPr/>
          <p:nvPr/>
        </p:nvSpPr>
        <p:spPr>
          <a:xfrm>
            <a:off x="793800" y="5040000"/>
            <a:ext cx="4158000" cy="21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just">
              <a:lnSpc>
                <a:spcPct val="150000"/>
              </a:lnSpc>
              <a:tabLst>
                <a:tab algn="l" pos="40824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Для проектирования аппаратных блоков в ПЛИС и микроконтроллерах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5235840" y="2982240"/>
            <a:ext cx="566280" cy="56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Text 3"/>
          <p:cNvSpPr/>
          <p:nvPr/>
        </p:nvSpPr>
        <p:spPr>
          <a:xfrm>
            <a:off x="5040000" y="4506120"/>
            <a:ext cx="449964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 anchorCtr="1">
            <a:noAutofit/>
          </a:bodyPr>
          <a:p>
            <a:pPr algn="ctr">
              <a:lnSpc>
                <a:spcPts val="2750"/>
              </a:lnSpc>
              <a:tabLst>
                <a:tab algn="l" pos="0"/>
              </a:tabLst>
            </a:pPr>
            <a:r>
              <a:rPr b="1" lang="ru-RU" sz="24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Робототехника и АСУ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4"/>
          <p:cNvSpPr/>
          <p:nvPr/>
        </p:nvSpPr>
        <p:spPr>
          <a:xfrm>
            <a:off x="5235840" y="5040000"/>
            <a:ext cx="4158000" cy="18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ru-RU" sz="21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Моделирование поведения роботов и управляющих систем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9677880" y="2982240"/>
            <a:ext cx="566280" cy="56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Text 5"/>
          <p:cNvSpPr/>
          <p:nvPr/>
        </p:nvSpPr>
        <p:spPr>
          <a:xfrm>
            <a:off x="9540000" y="4506120"/>
            <a:ext cx="431964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 anchorCtr="1">
            <a:noAutofit/>
          </a:bodyPr>
          <a:p>
            <a:pPr algn="ctr">
              <a:lnSpc>
                <a:spcPts val="2750"/>
              </a:lnSpc>
              <a:tabLst>
                <a:tab algn="l" pos="0"/>
              </a:tabLst>
            </a:pPr>
            <a:r>
              <a:rPr b="1" lang="ru-RU" sz="24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Разработка ПО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6"/>
          <p:cNvSpPr/>
          <p:nvPr/>
        </p:nvSpPr>
        <p:spPr>
          <a:xfrm>
            <a:off x="9677880" y="5040000"/>
            <a:ext cx="4158000" cy="21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Для парсинга, управления состояниями UI и реализации протоколов связи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7"/>
          <p:cNvSpPr/>
          <p:nvPr/>
        </p:nvSpPr>
        <p:spPr>
          <a:xfrm>
            <a:off x="793800" y="6755760"/>
            <a:ext cx="130420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49"/>
              </a:lnSpc>
              <a:tabLst>
                <a:tab algn="l" pos="0"/>
              </a:tabLst>
            </a:pP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12780000" y="7560000"/>
            <a:ext cx="1799640" cy="539640"/>
          </a:xfrm>
          <a:prstGeom prst="rect">
            <a:avLst/>
          </a:prstGeom>
          <a:solidFill>
            <a:srgbClr val="1f1f1f"/>
          </a:solidFill>
          <a:ln w="0">
            <a:solidFill>
              <a:srgbClr val="1f1f1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4" name="" descr=""/>
          <p:cNvPicPr/>
          <p:nvPr/>
        </p:nvPicPr>
        <p:blipFill>
          <a:blip r:embed="rId7"/>
          <a:stretch/>
        </p:blipFill>
        <p:spPr>
          <a:xfrm>
            <a:off x="2340000" y="3060000"/>
            <a:ext cx="899640" cy="125964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</p:pic>
      <p:sp>
        <p:nvSpPr>
          <p:cNvPr id="165" name=""/>
          <p:cNvSpPr/>
          <p:nvPr/>
        </p:nvSpPr>
        <p:spPr>
          <a:xfrm>
            <a:off x="9540000" y="4485960"/>
            <a:ext cx="360" cy="1994040"/>
          </a:xfrm>
          <a:prstGeom prst="line">
            <a:avLst/>
          </a:prstGeom>
          <a:ln w="0">
            <a:solidFill>
              <a:srgbClr val="bfbfb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5040000" y="4500000"/>
            <a:ext cx="360" cy="1994040"/>
          </a:xfrm>
          <a:prstGeom prst="line">
            <a:avLst/>
          </a:prstGeom>
          <a:ln w="0">
            <a:solidFill>
              <a:srgbClr val="bfbfb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" name="" descr=""/>
          <p:cNvPicPr/>
          <p:nvPr/>
        </p:nvPicPr>
        <p:blipFill>
          <a:blip r:embed="rId8"/>
          <a:stretch/>
        </p:blipFill>
        <p:spPr>
          <a:xfrm>
            <a:off x="6703200" y="3060000"/>
            <a:ext cx="1349640" cy="107964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</p:pic>
      <p:pic>
        <p:nvPicPr>
          <p:cNvPr id="168" name="" descr=""/>
          <p:cNvPicPr/>
          <p:nvPr/>
        </p:nvPicPr>
        <p:blipFill>
          <a:blip r:embed="rId9"/>
          <a:stretch/>
        </p:blipFill>
        <p:spPr>
          <a:xfrm>
            <a:off x="11160000" y="3060000"/>
            <a:ext cx="1259640" cy="125964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Image 0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5680" cy="822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0" name="Text 0"/>
          <p:cNvSpPr/>
          <p:nvPr/>
        </p:nvSpPr>
        <p:spPr>
          <a:xfrm>
            <a:off x="793800" y="680040"/>
            <a:ext cx="755568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5550"/>
              </a:lnSpc>
              <a:tabLst>
                <a:tab algn="l" pos="0"/>
              </a:tabLst>
            </a:pPr>
            <a:r>
              <a:rPr b="0" lang="ru-RU" sz="445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Заключение: Выбор Автомата для Задачи</a:t>
            </a:r>
            <a:endParaRPr b="0" lang="ru-RU" sz="4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1"/>
          <p:cNvSpPr/>
          <p:nvPr/>
        </p:nvSpPr>
        <p:spPr>
          <a:xfrm>
            <a:off x="793800" y="2437920"/>
            <a:ext cx="509760" cy="50976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"/>
          <p:cNvSpPr/>
          <p:nvPr/>
        </p:nvSpPr>
        <p:spPr>
          <a:xfrm>
            <a:off x="878760" y="2480400"/>
            <a:ext cx="33948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2650"/>
              </a:lnSpc>
              <a:tabLst>
                <a:tab algn="l" pos="0"/>
              </a:tabLst>
            </a:pPr>
            <a:r>
              <a:rPr b="0" lang="ru-RU" sz="265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1</a:t>
            </a:r>
            <a:endParaRPr b="0" lang="ru-RU" sz="26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3"/>
          <p:cNvSpPr/>
          <p:nvPr/>
        </p:nvSpPr>
        <p:spPr>
          <a:xfrm>
            <a:off x="1531080" y="2515680"/>
            <a:ext cx="283464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49"/>
              </a:lnSpc>
              <a:tabLst>
                <a:tab algn="l" pos="0"/>
              </a:tabLst>
            </a:pPr>
            <a:r>
              <a:rPr b="0" lang="ru-RU" sz="24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 Мили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4"/>
          <p:cNvSpPr/>
          <p:nvPr/>
        </p:nvSpPr>
        <p:spPr>
          <a:xfrm>
            <a:off x="1531080" y="3006360"/>
            <a:ext cx="6818760" cy="14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849"/>
              </a:lnSpc>
              <a:spcBef>
                <a:spcPts val="850"/>
              </a:spcBef>
              <a:spcAft>
                <a:spcPts val="850"/>
              </a:spcAft>
              <a:tabLst>
                <a:tab algn="l" pos="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Идеален для сценариев, где требуется: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ts val="2849"/>
              </a:lnSpc>
              <a:spcBef>
                <a:spcPts val="850"/>
              </a:spcBef>
              <a:spcAft>
                <a:spcPts val="850"/>
              </a:spcAft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Мгновенная реакция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ts val="2849"/>
              </a:lnSpc>
              <a:spcBef>
                <a:spcPts val="850"/>
              </a:spcBef>
              <a:spcAft>
                <a:spcPts val="850"/>
              </a:spcAft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Минимальная задержка вывода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5"/>
          <p:cNvSpPr/>
          <p:nvPr/>
        </p:nvSpPr>
        <p:spPr>
          <a:xfrm>
            <a:off x="793800" y="4911480"/>
            <a:ext cx="509760" cy="50976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6"/>
          <p:cNvSpPr/>
          <p:nvPr/>
        </p:nvSpPr>
        <p:spPr>
          <a:xfrm>
            <a:off x="878760" y="4953960"/>
            <a:ext cx="33948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2650"/>
              </a:lnSpc>
              <a:tabLst>
                <a:tab algn="l" pos="0"/>
              </a:tabLst>
            </a:pPr>
            <a:r>
              <a:rPr b="0" lang="ru-RU" sz="265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2</a:t>
            </a:r>
            <a:endParaRPr b="0" lang="ru-RU" sz="26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7"/>
          <p:cNvSpPr/>
          <p:nvPr/>
        </p:nvSpPr>
        <p:spPr>
          <a:xfrm>
            <a:off x="1531080" y="4989240"/>
            <a:ext cx="283464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49"/>
              </a:lnSpc>
              <a:tabLst>
                <a:tab algn="l" pos="0"/>
              </a:tabLst>
            </a:pPr>
            <a:r>
              <a:rPr b="0" lang="ru-RU" sz="24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 Мура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8"/>
          <p:cNvSpPr/>
          <p:nvPr/>
        </p:nvSpPr>
        <p:spPr>
          <a:xfrm>
            <a:off x="1531080" y="5479560"/>
            <a:ext cx="6818760" cy="14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spcBef>
                <a:spcPts val="1134"/>
              </a:spcBef>
              <a:spcAft>
                <a:spcPts val="1134"/>
              </a:spcAft>
              <a:tabLst>
                <a:tab algn="l" pos="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Предпочтителен, где важна: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34"/>
              </a:spcBef>
              <a:spcAft>
                <a:spcPts val="1134"/>
              </a:spcAft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Стабильность выходных сигналов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34"/>
              </a:spcBef>
              <a:spcAft>
                <a:spcPts val="1134"/>
              </a:spcAft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Простота описания логики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9"/>
          <p:cNvSpPr/>
          <p:nvPr/>
        </p:nvSpPr>
        <p:spPr>
          <a:xfrm>
            <a:off x="793800" y="7186320"/>
            <a:ext cx="75556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49"/>
              </a:lnSpc>
              <a:tabLst>
                <a:tab algn="l" pos="0"/>
              </a:tabLst>
            </a:pP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2495</TotalTime>
  <Application>LibreOffice/25.8.3.2$Windows_X86_64 LibreOffice_project/8ca8d55c161d602844f5428fa4b58097424e324e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2025-12-12T07:35:52Z</dcterms:created>
  <dc:creator/>
  <dc:description/>
  <dc:language>ru-RU</dc:language>
  <cp:lastModifiedBy/>
  <dcterms:modified xsi:type="dcterms:W3CDTF">2025-12-14T14:41:32Z</dcterms:modified>
  <cp:revision>155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