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Instrument Sans Medium"/>
      <p:regular r:id="rId16"/>
    </p:embeddedFont>
    <p:embeddedFont>
      <p:font typeface="Instrument Sans Medium"/>
      <p:regular r:id="rId17"/>
    </p:embeddedFont>
    <p:embeddedFont>
      <p:font typeface="Instrument Sans Medium"/>
      <p:regular r:id="rId18"/>
    </p:embeddedFont>
    <p:embeddedFont>
      <p:font typeface="Instrument Sans Medium"/>
      <p:regular r:id="rId19"/>
    </p:embeddedFont>
    <p:embeddedFont>
      <p:font typeface="Open Sans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6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84991"/>
            <a:ext cx="130428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Автоматы Мура и Мили: Основы и Применения</a:t>
            </a:r>
            <a:endParaRPr lang="en-US" sz="6150" dirty="0"/>
          </a:p>
        </p:txBody>
      </p:sp>
      <p:sp>
        <p:nvSpPr>
          <p:cNvPr id="3" name="Text 1"/>
          <p:cNvSpPr/>
          <p:nvPr/>
        </p:nvSpPr>
        <p:spPr>
          <a:xfrm>
            <a:off x="793790" y="50815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Реферат подготовил студент группы БСТ2502 Кочкин Иван Владми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3213"/>
            <a:ext cx="82522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Что такое конечный автомат?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96227"/>
            <a:ext cx="760428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Состоит из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29032"/>
            <a:ext cx="760428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Состояний </a:t>
            </a:r>
            <a:pPr algn="l" lvl="1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\{a_1, \dots, a_m, \dots, a_M\}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261836"/>
            <a:ext cx="760428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Входов </a:t>
            </a:r>
            <a:pPr algn="l" lvl="1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\{z_1, \dots, z_f, \dots, z_F\}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794641"/>
            <a:ext cx="7604284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Выходов </a:t>
            </a:r>
            <a:pPr algn="l" lvl="1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\{w_1, \dots, w_g, \dots, w_G\}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327446"/>
            <a:ext cx="7604284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Функции переходов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\lambda()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определяют следующее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состояние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313759"/>
            <a:ext cx="7604284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Функции выходов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\delta()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определяют генерируемые сигналы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300073"/>
            <a:ext cx="7604284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Начальное состояние </a:t>
            </a:r>
            <a:pPr algn="l" indent="0" marL="0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a(0)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определяет точку входа в систему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959096" y="2196227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814280"/>
            <a:ext cx="4885015" cy="263783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096" y="5707261"/>
            <a:ext cx="4885015" cy="105513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25289" y="804624"/>
            <a:ext cx="7866221" cy="1140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Автомат Мура: Выход зависит только от состояния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125289" y="2219206"/>
            <a:ext cx="3841790" cy="2949535"/>
          </a:xfrm>
          <a:prstGeom prst="roundRect">
            <a:avLst>
              <a:gd name="adj" fmla="val 928"/>
            </a:avLst>
          </a:prstGeom>
          <a:solidFill>
            <a:srgbClr val="3E3E3E"/>
          </a:solidFill>
          <a:ln/>
        </p:spPr>
      </p:sp>
      <p:sp>
        <p:nvSpPr>
          <p:cNvPr id="5" name="Shape 2"/>
          <p:cNvSpPr/>
          <p:nvPr/>
        </p:nvSpPr>
        <p:spPr>
          <a:xfrm>
            <a:off x="6307812" y="2401729"/>
            <a:ext cx="547568" cy="547568"/>
          </a:xfrm>
          <a:prstGeom prst="roundRect">
            <a:avLst>
              <a:gd name="adj" fmla="val 16697626"/>
            </a:avLst>
          </a:prstGeom>
          <a:solidFill>
            <a:srgbClr val="F5F54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58426" y="2552343"/>
            <a:ext cx="246340" cy="2463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7812" y="3131820"/>
            <a:ext cx="2438519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Стабильность Выхода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307812" y="3526512"/>
            <a:ext cx="3476744" cy="1459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Выходной сигнал определяется исключительно текущим состоянием автомата. Это обеспечивает предсказуемость и отсутствие мгновенных изменений.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0149602" y="2219206"/>
            <a:ext cx="3841909" cy="2949535"/>
          </a:xfrm>
          <a:prstGeom prst="roundRect">
            <a:avLst>
              <a:gd name="adj" fmla="val 928"/>
            </a:avLst>
          </a:prstGeom>
          <a:solidFill>
            <a:srgbClr val="3E3E3E"/>
          </a:solidFill>
          <a:ln/>
        </p:spPr>
      </p:sp>
      <p:sp>
        <p:nvSpPr>
          <p:cNvPr id="10" name="Shape 6"/>
          <p:cNvSpPr/>
          <p:nvPr/>
        </p:nvSpPr>
        <p:spPr>
          <a:xfrm>
            <a:off x="10332125" y="2401729"/>
            <a:ext cx="547568" cy="547568"/>
          </a:xfrm>
          <a:prstGeom prst="roundRect">
            <a:avLst>
              <a:gd name="adj" fmla="val 16697626"/>
            </a:avLst>
          </a:prstGeom>
          <a:solidFill>
            <a:srgbClr val="F5F54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82739" y="2552343"/>
            <a:ext cx="246340" cy="2463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332125" y="3131820"/>
            <a:ext cx="241220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Задержка в Один Такт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0332125" y="3526512"/>
            <a:ext cx="3476863" cy="1459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Изменения выхода происходят только после перехода в новое состояние, обычно с задержкой в один такт, что делает его идеальным для синхронных систем.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125289" y="5351264"/>
            <a:ext cx="7866221" cy="2073712"/>
          </a:xfrm>
          <a:prstGeom prst="roundRect">
            <a:avLst>
              <a:gd name="adj" fmla="val 1321"/>
            </a:avLst>
          </a:prstGeom>
          <a:solidFill>
            <a:srgbClr val="3E3E3E"/>
          </a:solidFill>
          <a:ln/>
        </p:spPr>
      </p:sp>
      <p:sp>
        <p:nvSpPr>
          <p:cNvPr id="15" name="Shape 10"/>
          <p:cNvSpPr/>
          <p:nvPr/>
        </p:nvSpPr>
        <p:spPr>
          <a:xfrm>
            <a:off x="6307812" y="5533787"/>
            <a:ext cx="547568" cy="547568"/>
          </a:xfrm>
          <a:prstGeom prst="roundRect">
            <a:avLst>
              <a:gd name="adj" fmla="val 16697626"/>
            </a:avLst>
          </a:prstGeom>
          <a:solidFill>
            <a:srgbClr val="F5F54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58426" y="5684401"/>
            <a:ext cx="246340" cy="2463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7812" y="6263878"/>
            <a:ext cx="2281952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Пример: Светофор</a:t>
            </a:r>
            <a:endParaRPr lang="en-US" sz="1750" dirty="0"/>
          </a:p>
        </p:txBody>
      </p:sp>
      <p:sp>
        <p:nvSpPr>
          <p:cNvPr id="18" name="Text 12"/>
          <p:cNvSpPr/>
          <p:nvPr/>
        </p:nvSpPr>
        <p:spPr>
          <a:xfrm>
            <a:off x="6307812" y="6658570"/>
            <a:ext cx="7501176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Классический пример — светофор, где сигнал (зеленый, желтый, красный) зависит только от текущего состояния светофора, а не от мгновенных входных сигналов.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611267"/>
            <a:ext cx="13074491" cy="1389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Автомат Мили: Выход зависит от состояния и входа</a:t>
            </a: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54" y="2584133"/>
            <a:ext cx="4904423" cy="4904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2208" y="2534126"/>
            <a:ext cx="7627739" cy="106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 Мили, названный в честь Джорджа Мили, реагирует на изменения входов моментально. Его выходной сигнал формируется на основе как текущего состояния, так и активного входного сигнала.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32208" y="3801070"/>
            <a:ext cx="7627739" cy="71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Мгновенная Реакция: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Выходы генерируются на переходах, что позволяет быстро реагировать на внешние воздействия.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32208" y="4590098"/>
            <a:ext cx="7627739" cy="106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Выходы на Переходах: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отличие от Мура, где выходы ассоциированы с состояниями, у Мили они привязаны к самим переходам между состояниями.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32208" y="5734764"/>
            <a:ext cx="7627739" cy="106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Пример: Торговый Автомат: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Торговый автомат, выдающий товар при нажатии кнопки и наличии монет, является отличным примером автомата Мили.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4757"/>
            <a:ext cx="1218009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Ключевые Отличия Автоматов Мура и Мили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03859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1F1F1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273379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5" name="Shape 3"/>
          <p:cNvSpPr/>
          <p:nvPr/>
        </p:nvSpPr>
        <p:spPr>
          <a:xfrm>
            <a:off x="3657540" y="196369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5F5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61614" y="2167771"/>
            <a:ext cx="272177" cy="27217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084" y="2870835"/>
            <a:ext cx="28916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Зависимость Выхода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084" y="3361253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Мура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выход зависит только от текущего состояния, тогда как у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Мили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от состояния и входа.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2303859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1F1F1F"/>
          </a:solidFill>
          <a:ln/>
        </p:spPr>
      </p:sp>
      <p:sp>
        <p:nvSpPr>
          <p:cNvPr id="10" name="Shape 7"/>
          <p:cNvSpPr/>
          <p:nvPr/>
        </p:nvSpPr>
        <p:spPr>
          <a:xfrm>
            <a:off x="7428548" y="2273379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11" name="Shape 8"/>
          <p:cNvSpPr/>
          <p:nvPr/>
        </p:nvSpPr>
        <p:spPr>
          <a:xfrm>
            <a:off x="10292298" y="196369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5F54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6371" y="2167771"/>
            <a:ext cx="272177" cy="2721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85842" y="2870835"/>
            <a:ext cx="35140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Местоположение Выхода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685842" y="3361253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Выходы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Мура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ассоциированы с состояниями, а выходы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Мили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с переходами между состояниями.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793790" y="4911328"/>
            <a:ext cx="6407944" cy="2403396"/>
          </a:xfrm>
          <a:prstGeom prst="roundRect">
            <a:avLst>
              <a:gd name="adj" fmla="val 6087"/>
            </a:avLst>
          </a:prstGeom>
          <a:solidFill>
            <a:srgbClr val="1F1F1F"/>
          </a:solidFill>
          <a:ln/>
        </p:spPr>
      </p:sp>
      <p:sp>
        <p:nvSpPr>
          <p:cNvPr id="16" name="Shape 12"/>
          <p:cNvSpPr/>
          <p:nvPr/>
        </p:nvSpPr>
        <p:spPr>
          <a:xfrm>
            <a:off x="793790" y="4880848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17" name="Shape 13"/>
          <p:cNvSpPr/>
          <p:nvPr/>
        </p:nvSpPr>
        <p:spPr>
          <a:xfrm>
            <a:off x="3657540" y="457116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5F547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614" y="4775240"/>
            <a:ext cx="272177" cy="27217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084" y="54783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Задержка Реакции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1051084" y="5968722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Мили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обеспечивает мгновенную реакцию, в то время как у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Мура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выход задерживается на один такт.</a:t>
            </a:r>
            <a:endParaRPr lang="en-US" sz="1750" dirty="0"/>
          </a:p>
        </p:txBody>
      </p:sp>
      <p:sp>
        <p:nvSpPr>
          <p:cNvPr id="21" name="Shape 16"/>
          <p:cNvSpPr/>
          <p:nvPr/>
        </p:nvSpPr>
        <p:spPr>
          <a:xfrm>
            <a:off x="7428548" y="4911328"/>
            <a:ext cx="6408063" cy="2403396"/>
          </a:xfrm>
          <a:prstGeom prst="roundRect">
            <a:avLst>
              <a:gd name="adj" fmla="val 6087"/>
            </a:avLst>
          </a:prstGeom>
          <a:solidFill>
            <a:srgbClr val="1F1F1F"/>
          </a:solidFill>
          <a:ln/>
        </p:spPr>
      </p:sp>
      <p:sp>
        <p:nvSpPr>
          <p:cNvPr id="22" name="Shape 17"/>
          <p:cNvSpPr/>
          <p:nvPr/>
        </p:nvSpPr>
        <p:spPr>
          <a:xfrm>
            <a:off x="7428548" y="4880848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23" name="Shape 18"/>
          <p:cNvSpPr/>
          <p:nvPr/>
        </p:nvSpPr>
        <p:spPr>
          <a:xfrm>
            <a:off x="10292298" y="457116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F5F54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96371" y="4775240"/>
            <a:ext cx="272177" cy="27217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685842" y="54783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Преобразования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7685842" y="5968722"/>
            <a:ext cx="589347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Любой автомат Мили может быть преобразован в эквивалентный автомат Мура, и наоборот, с некоторыми изменениями в структуре.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512" y="677942"/>
            <a:ext cx="6703338" cy="595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Графическое Представление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6512" y="1749028"/>
            <a:ext cx="2856547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Автомат Мура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6512" y="2296358"/>
            <a:ext cx="6416397" cy="1522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графовом представлении автомата Мура, состояния изображаются как вершины (круги), внутри которых указываются соответствующие выходные сигналы. Переходы между состояниями обозначаются стрелками, маркированными входными сигналами, вызывающими эти переходы.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064" y="4033361"/>
            <a:ext cx="3671173" cy="33039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55111" y="1749028"/>
            <a:ext cx="2856547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Автомат Мили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555111" y="2296358"/>
            <a:ext cx="6416397" cy="1522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автомата Мили выходные сигналы ассоциируются непосредственно с переходами (стрелками) между состояниями. На каждом ребре указывается пара "вход/выход", что подчеркивает зависимость выхода не только от текущего состояния, но и от текущего входного сигнала.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296" y="4033361"/>
            <a:ext cx="5356027" cy="31898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2221"/>
            <a:ext cx="13049964" cy="1411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Пример: Автомат, регулирующий пешеходный переход (Мура)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0218" y="2484834"/>
            <a:ext cx="22574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0218" y="2838093"/>
            <a:ext cx="4199453" cy="3048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5" name="Text 3"/>
          <p:cNvSpPr/>
          <p:nvPr/>
        </p:nvSpPr>
        <p:spPr>
          <a:xfrm>
            <a:off x="790218" y="3011924"/>
            <a:ext cx="2848213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Исходное Состояние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0218" y="3499961"/>
            <a:ext cx="4199453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Зеленый свет для транспорта, красный для пешеходов. Движение автомобилей разрешено.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5414" y="2484834"/>
            <a:ext cx="22574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5414" y="2838093"/>
            <a:ext cx="4199453" cy="3048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9" name="Text 7"/>
          <p:cNvSpPr/>
          <p:nvPr/>
        </p:nvSpPr>
        <p:spPr>
          <a:xfrm>
            <a:off x="5215414" y="3011924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Запрос Пешехода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5414" y="3499961"/>
            <a:ext cx="4199453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Пешеход нажимает кнопку вызова. Автомат регистрирует запрос, но не меняет состояние немедленно.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610" y="2484834"/>
            <a:ext cx="22574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610" y="2838093"/>
            <a:ext cx="4199573" cy="3048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610" y="3011924"/>
            <a:ext cx="3613666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Переключение на Желтый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610" y="3499961"/>
            <a:ext cx="4199573" cy="144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определенного тайм-аута или завершения цикла движения транспорта, светофор переключается на желтый для автомобилей.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0218" y="5339477"/>
            <a:ext cx="22574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0218" y="5692735"/>
            <a:ext cx="6412111" cy="3048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7" name="Text 15"/>
          <p:cNvSpPr/>
          <p:nvPr/>
        </p:nvSpPr>
        <p:spPr>
          <a:xfrm>
            <a:off x="790218" y="5866567"/>
            <a:ext cx="3392091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Зеленый для Пешеходов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0218" y="6354604"/>
            <a:ext cx="6412111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Красный для транспорта, зеленый для пешеходов. Выходной сигнал (комбинация цветов светофора) полностью определяется этим новым состоянием.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071" y="5339477"/>
            <a:ext cx="225743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071" y="5692735"/>
            <a:ext cx="6412111" cy="30480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071" y="5866567"/>
            <a:ext cx="2894290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Возврат к Исходному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071" y="6354604"/>
            <a:ext cx="6412111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Через заданное время светофор возвращается в исходное состояние, обеспечивая плавное и безопасное регулирование движения.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097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Применение в Цифровой Технике и Программировании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982158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832622"/>
            <a:ext cx="38642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ПЛИС и Микроконтроллеры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323040"/>
            <a:ext cx="415861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Автоматы Мура и Мили являются основой для проектирования аппаратных блоков в программируемых логических интегральных схемах (ПЛИС) и микроконтроллерах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982158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832622"/>
            <a:ext cx="29125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Робототехника и АСУ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4323040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робототехнике и автоматизированных системах управления (АСУ) используются для моделирования поведения роботов и управляющих систем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298215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83262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Разработка ПО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4323040"/>
            <a:ext cx="415861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программном обеспечении конечные автоматы применяются для парсинга, управления состояниями пользовательских интерфейсов и реализации протоколов связи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793790" y="67556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8020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Заключение: Выбор Автомата для Задачи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379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5" name="Text 2"/>
          <p:cNvSpPr/>
          <p:nvPr/>
        </p:nvSpPr>
        <p:spPr>
          <a:xfrm>
            <a:off x="878860" y="248042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5157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Автомат Мили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006209"/>
            <a:ext cx="681930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Идеален для сценариев, где требуется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мгновенная реакция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на входные сигналы и минимальная задержка вывода. Например, для высокоскоростных протоколов связи или интерактивных систем.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93790" y="491144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9" name="Text 6"/>
          <p:cNvSpPr/>
          <p:nvPr/>
        </p:nvSpPr>
        <p:spPr>
          <a:xfrm>
            <a:off x="878860" y="49539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530906" y="49893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Автомат Мура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530906" y="5479733"/>
            <a:ext cx="681930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Предпочтителен для систем, где важна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5F5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стабильность выходных сигналов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простота описания логики, например, в синхронных цифровых схемах или системах управления с четкими фазами.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718649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2025-12-12T07:35:52Z</dcterms:created>
  <dcterms:modified xsi:type="dcterms:W3CDTF">2025-12-12T07:35:52Z</dcterms:modified>
</cp:coreProperties>
</file>