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11.xml" ContentType="application/vnd.openxmlformats-officedocument.theme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media/image6.emf" ContentType="image/x-emf"/>
  <Override PartName="/ppt/media/image18.png" ContentType="image/png"/>
  <Override PartName="/ppt/media/image1.png" ContentType="image/png"/>
  <Override PartName="/ppt/media/image5.emf" ContentType="image/x-emf"/>
  <Override PartName="/ppt/media/image2.png" ContentType="image/png"/>
  <Override PartName="/ppt/media/image3.png" ContentType="image/png"/>
  <Override PartName="/ppt/media/image29.png" ContentType="image/png"/>
  <Override PartName="/ppt/media/image4.emf" ContentType="image/x-emf"/>
  <Override PartName="/ppt/media/image21.svg" ContentType="image/svg"/>
  <Override PartName="/ppt/media/image11.png" ContentType="image/png"/>
  <Override PartName="/ppt/media/image7.emf" ContentType="image/x-emf"/>
  <Override PartName="/ppt/media/image8.emf" ContentType="image/x-emf"/>
  <Override PartName="/ppt/media/image24.png" ContentType="image/png"/>
  <Override PartName="/ppt/media/image14.svg" ContentType="image/svg"/>
  <Override PartName="/ppt/media/image9.emf" ContentType="image/x-emf"/>
  <Override PartName="/ppt/media/image10.png" ContentType="image/png"/>
  <Override PartName="/ppt/media/image20.png" ContentType="image/png"/>
  <Override PartName="/ppt/media/image12.svg" ContentType="image/svg"/>
  <Override PartName="/ppt/media/image13.png" ContentType="image/png"/>
  <Override PartName="/ppt/media/image22.png" ContentType="image/png"/>
  <Override PartName="/ppt/media/image15.png" ContentType="image/png"/>
  <Override PartName="/ppt/media/image16.png" ContentType="image/png"/>
  <Override PartName="/ppt/media/image17.png" ContentType="image/png"/>
  <Override PartName="/ppt/media/image19.png" ContentType="image/png"/>
  <Override PartName="/ppt/media/image23.png" ContentType="image/png"/>
  <Override PartName="/ppt/media/image25.png" ContentType="image/png"/>
  <Override PartName="/ppt/media/image26.png" ContentType="image/png"/>
  <Override PartName="/ppt/media/image27.png" ContentType="image/png"/>
  <Override PartName="/ppt/media/image28.png" ContentType="image/png"/>
  <Override PartName="/ppt/media/image30.png" ContentType="image/png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_rels/notesSlide1.xml.rels" ContentType="application/vnd.openxmlformats-package.relationships+xml"/>
  <Override PartName="/ppt/notesSlides/_rels/notesSlide2.xml.rels" ContentType="application/vnd.openxmlformats-package.relationships+xml"/>
  <Override PartName="/ppt/notesSlides/_rels/notesSlide3.xml.rels" ContentType="application/vnd.openxmlformats-package.relationships+xml"/>
  <Override PartName="/ppt/notesSlides/_rels/notesSlide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9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fonts/Font_2_Segoe_UI_Regular.fntdata" ContentType="application/x-fontdata"/>
  <Override PartName="/ppt/fonts/Font_1_Open_Sans_Bold.fntdata" ContentType="application/x-fontdata"/>
  <Override PartName="/ppt/fonts/Font_4_Segoe_UI_Italic.fntdata" ContentType="application/x-fontdata"/>
  <Override PartName="/ppt/fonts/Font_3_Segoe_UI_Bold.fntdata" ContentType="application/x-fontdata"/>
  <Override PartName="/ppt/fonts/Font_5_Segoe_UI_BoldItalic.fntdata" ContentType="application/x-fontdata"/>
  <Override PartName="/ppt/presProps.xml" ContentType="application/vnd.openxmlformats-officedocument.presentationml.presPro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14630400" cy="8229600"/>
  <p:notesSz cx="8229600" cy="14630400"/>
  <p:embeddedFontLst>
    <p:embeddedFont>
      <p:font typeface="Instrument Sans Medium"/>
    </p:embeddedFont>
    <p:embeddedFont>
      <p:font typeface="Open Sans"/>
      <p:bold r:id="rId13"/>
    </p:embeddedFont>
    <p:embeddedFont>
      <p:font typeface="Calibri Light"/>
    </p:embeddedFont>
    <p:embeddedFont>
      <p:font typeface="Instrument Sans Light"/>
    </p:embeddedFont>
    <p:embeddedFont>
      <p:font typeface="Lucida Sans"/>
    </p:embeddedFont>
    <p:embeddedFont>
      <p:font typeface="Microsoft YaHei"/>
    </p:embeddedFont>
    <p:embeddedFont>
      <p:font typeface="Segoe UI"/>
      <p:regular r:id="rId14"/>
      <p:bold r:id="rId15"/>
      <p:italic r:id="rId16"/>
      <p:boldItalic r:id="rId1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font" Target="fonts/Font_1_Open_Sans_Bold.fntdata"/><Relationship Id="rId14" Type="http://schemas.openxmlformats.org/officeDocument/2006/relationships/font" Target="fonts/Font_2_Segoe_UI_Regular.fntdata"/><Relationship Id="rId15" Type="http://schemas.openxmlformats.org/officeDocument/2006/relationships/font" Target="fonts/Font_3_Segoe_UI_Bold.fntdata"/><Relationship Id="rId16" Type="http://schemas.openxmlformats.org/officeDocument/2006/relationships/font" Target="fonts/Font_4_Segoe_UI_Italic.fntdata"/><Relationship Id="rId17" Type="http://schemas.openxmlformats.org/officeDocument/2006/relationships/font" Target="fonts/Font_5_Segoe_UI_BoldItalic.fntdata"/><Relationship Id="rId1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1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ru-RU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перемещения страницы щёлкните мышью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формата примечаний щёлкните мышью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&lt;верхний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04A48AE-3DAA-4EC9-B865-343C3CBC33F8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37B1BD9-C8C6-445A-A59D-109368937ADB}" type="slidenum"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53E869F-60C2-494D-8D15-149CB70C0095}" type="slidenum"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D5BB0BC-9960-4041-AE97-D9CE653769FF}" type="slidenum"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2D609DA-D716-4C46-B130-0A88828256F2}" type="slidenum"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FE014E5-1D75-4A4F-BD9E-A9AA8C40460B}" type="slidenum"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C2FB55D-DAD7-4B63-9893-1911129E3C2A}" type="slidenum"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35BB26E-245D-4F07-9B8F-04EFFD70025F}" type="slidenum"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230F4F1-5FBA-4826-A891-3A1E83520759}" type="slidenum"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FBA4DD0-65FF-44DA-B77A-698E10D85482}" type="slidenum"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f1f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" name="Image 0" descr="preencoded.png">
            <a:hlinkClick r:id="rId2"/>
          </p:cNvPr>
          <p:cNvPicPr/>
          <p:nvPr/>
        </p:nvPicPr>
        <p:blipFill>
          <a:blip r:embed="rId3"/>
          <a:stretch/>
        </p:blipFill>
        <p:spPr>
          <a:xfrm>
            <a:off x="12839040" y="7749720"/>
            <a:ext cx="1721880" cy="4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6640" cy="137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Для правки текста заглавия щёлкните мышью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6640" cy="477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f1f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" name="Image 0" descr="preencoded.png">
            <a:hlinkClick r:id="rId2"/>
          </p:cNvPr>
          <p:cNvPicPr/>
          <p:nvPr/>
        </p:nvPicPr>
        <p:blipFill>
          <a:blip r:embed="rId3"/>
          <a:stretch/>
        </p:blipFill>
        <p:spPr>
          <a:xfrm>
            <a:off x="12839040" y="7749720"/>
            <a:ext cx="1721880" cy="4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6640" cy="137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Для правки текста заглавия щёлкните мышью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6640" cy="477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f1f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" name="Image 0" descr="preencoded.png">
            <a:hlinkClick r:id="rId2"/>
          </p:cNvPr>
          <p:cNvPicPr/>
          <p:nvPr/>
        </p:nvPicPr>
        <p:blipFill>
          <a:blip r:embed="rId3"/>
          <a:stretch/>
        </p:blipFill>
        <p:spPr>
          <a:xfrm>
            <a:off x="12839040" y="7749720"/>
            <a:ext cx="1721880" cy="410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f1f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" name="Image 0" descr="preencoded.png">
            <a:hlinkClick r:id="rId2"/>
          </p:cNvPr>
          <p:cNvPicPr/>
          <p:nvPr/>
        </p:nvPicPr>
        <p:blipFill>
          <a:blip r:embed="rId3"/>
          <a:stretch/>
        </p:blipFill>
        <p:spPr>
          <a:xfrm>
            <a:off x="12839040" y="7749720"/>
            <a:ext cx="1721880" cy="4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6640" cy="137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Для правки текста заглавия щёлкните мышью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6640" cy="477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f1f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" name="Image 0" descr="preencoded.png">
            <a:hlinkClick r:id="rId2"/>
          </p:cNvPr>
          <p:cNvPicPr/>
          <p:nvPr/>
        </p:nvPicPr>
        <p:blipFill>
          <a:blip r:embed="rId3"/>
          <a:stretch/>
        </p:blipFill>
        <p:spPr>
          <a:xfrm>
            <a:off x="12839040" y="7749720"/>
            <a:ext cx="1721880" cy="4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6640" cy="137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Для правки текста заглавия щёлкните мышью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6640" cy="477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f1f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7" name="Image 0" descr="preencoded.png">
            <a:hlinkClick r:id="rId2"/>
          </p:cNvPr>
          <p:cNvPicPr/>
          <p:nvPr/>
        </p:nvPicPr>
        <p:blipFill>
          <a:blip r:embed="rId3"/>
          <a:stretch/>
        </p:blipFill>
        <p:spPr>
          <a:xfrm>
            <a:off x="12839040" y="7749720"/>
            <a:ext cx="1721880" cy="4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6640" cy="137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Для правки текста заглавия щёлкните мышью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6640" cy="477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f1f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" name="Image 0" descr="preencoded.png">
            <a:hlinkClick r:id="rId2"/>
          </p:cNvPr>
          <p:cNvPicPr/>
          <p:nvPr/>
        </p:nvPicPr>
        <p:blipFill>
          <a:blip r:embed="rId3"/>
          <a:stretch/>
        </p:blipFill>
        <p:spPr>
          <a:xfrm>
            <a:off x="12839040" y="7749720"/>
            <a:ext cx="1721880" cy="4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6640" cy="137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Для правки текста заглавия щёлкните мышью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6640" cy="477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f1f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" name="Image 0" descr="preencoded.png">
            <a:hlinkClick r:id="rId2"/>
          </p:cNvPr>
          <p:cNvPicPr/>
          <p:nvPr/>
        </p:nvPicPr>
        <p:blipFill>
          <a:blip r:embed="rId3"/>
          <a:stretch/>
        </p:blipFill>
        <p:spPr>
          <a:xfrm>
            <a:off x="12839040" y="7749720"/>
            <a:ext cx="1721880" cy="4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6640" cy="137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Для правки текста заглавия щёлкните мышью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6640" cy="477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bfbfbf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864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108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1296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151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0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1"/>
          <p:cNvSpPr/>
          <p:nvPr/>
        </p:nvSpPr>
        <p:spPr>
          <a:xfrm>
            <a:off x="0" y="0"/>
            <a:ext cx="14629680" cy="8228880"/>
          </a:xfrm>
          <a:prstGeom prst="rect">
            <a:avLst/>
          </a:prstGeom>
          <a:solidFill>
            <a:srgbClr val="1f1f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2" name="Image 0" descr="preencoded.png">
            <a:hlinkClick r:id="rId2"/>
          </p:cNvPr>
          <p:cNvPicPr/>
          <p:nvPr/>
        </p:nvPicPr>
        <p:blipFill>
          <a:blip r:embed="rId3"/>
          <a:stretch/>
        </p:blipFill>
        <p:spPr>
          <a:xfrm>
            <a:off x="12839040" y="7749720"/>
            <a:ext cx="1721880" cy="4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6640" cy="137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Для правки текста заглавия щёлкните мышью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6640" cy="4772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emf"/><Relationship Id="rId4" Type="http://schemas.openxmlformats.org/officeDocument/2006/relationships/image" Target="../media/image5.emf"/><Relationship Id="rId5" Type="http://schemas.openxmlformats.org/officeDocument/2006/relationships/image" Target="../media/image6.emf"/><Relationship Id="rId6" Type="http://schemas.openxmlformats.org/officeDocument/2006/relationships/image" Target="../media/image7.emf"/><Relationship Id="rId7" Type="http://schemas.openxmlformats.org/officeDocument/2006/relationships/image" Target="../media/image8.emf"/><Relationship Id="rId8" Type="http://schemas.openxmlformats.org/officeDocument/2006/relationships/image" Target="../media/image9.emf"/><Relationship Id="rId9" Type="http://schemas.openxmlformats.org/officeDocument/2006/relationships/slideLayout" Target="../slideLayouts/slideLayout6.xml"/><Relationship Id="rId10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svg"/><Relationship Id="rId4" Type="http://schemas.openxmlformats.org/officeDocument/2006/relationships/image" Target="../media/image13.png"/><Relationship Id="rId5" Type="http://schemas.openxmlformats.org/officeDocument/2006/relationships/image" Target="../media/image14.svg"/><Relationship Id="rId6" Type="http://schemas.openxmlformats.org/officeDocument/2006/relationships/image" Target="../media/image15.png"/><Relationship Id="rId7" Type="http://schemas.openxmlformats.org/officeDocument/2006/relationships/slideLayout" Target="../slideLayouts/slideLayout7.xml"/><Relationship Id="rId8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slideLayout" Target="../slideLayouts/slideLayout8.xml"/><Relationship Id="rId6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sv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slideLayout" Target="../slideLayouts/slideLayout9.xml"/><Relationship Id="rId7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slideLayout" Target="../slideLayouts/slideLayout10.xml"/><Relationship Id="rId4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 0"/>
          <p:cNvSpPr/>
          <p:nvPr/>
        </p:nvSpPr>
        <p:spPr>
          <a:xfrm>
            <a:off x="793800" y="2363760"/>
            <a:ext cx="13042080" cy="19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7699"/>
              </a:lnSpc>
              <a:tabLst>
                <a:tab algn="l" pos="0"/>
              </a:tabLst>
            </a:pPr>
            <a:r>
              <a:rPr b="0" lang="ru-RU" sz="6150" strike="noStrike" u="none">
                <a:solidFill>
                  <a:srgbClr val="fefefe"/>
                </a:solidFill>
                <a:effectLst/>
                <a:uFillTx/>
                <a:latin typeface="Instrument Sans Medium"/>
                <a:ea typeface="Instrument Sans Medium"/>
              </a:rPr>
              <a:t>Автоматы Мура и Мили: Основы и Применения</a:t>
            </a:r>
            <a:endParaRPr b="0" lang="ru-RU" sz="61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12780000" y="7560000"/>
            <a:ext cx="1799640" cy="539640"/>
          </a:xfrm>
          <a:prstGeom prst="rect">
            <a:avLst/>
          </a:prstGeom>
          <a:solidFill>
            <a:srgbClr val="1f1f1f"/>
          </a:solidFill>
          <a:ln w="0">
            <a:solidFill>
              <a:srgbClr val="1f1f1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7200000" y="5400000"/>
            <a:ext cx="7243560" cy="10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r">
              <a:lnSpc>
                <a:spcPts val="2849"/>
              </a:lnSpc>
              <a:tabLst>
                <a:tab algn="l" pos="0"/>
              </a:tabLst>
            </a:pPr>
            <a:r>
              <a:rPr b="0" lang="ru-RU" sz="21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Реферат подготовил студент группы БСТ2502 Кочкин Иван Владимирович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ext 0"/>
          <p:cNvSpPr/>
          <p:nvPr/>
        </p:nvSpPr>
        <p:spPr>
          <a:xfrm>
            <a:off x="793800" y="943200"/>
            <a:ext cx="8251560" cy="7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5550"/>
              </a:lnSpc>
              <a:tabLst>
                <a:tab algn="l" pos="0"/>
              </a:tabLst>
            </a:pPr>
            <a:r>
              <a:rPr b="0" lang="ru-RU" sz="4450" strike="noStrike" u="none">
                <a:solidFill>
                  <a:srgbClr val="fefefe"/>
                </a:solidFill>
                <a:effectLst/>
                <a:uFillTx/>
                <a:latin typeface="Instrument Sans Medium"/>
                <a:ea typeface="Instrument Sans Medium"/>
              </a:rPr>
              <a:t>Что такое конечный автомат?</a:t>
            </a:r>
            <a:endParaRPr b="0" lang="ru-RU" sz="44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2"/>
          <p:cNvSpPr/>
          <p:nvPr/>
        </p:nvSpPr>
        <p:spPr>
          <a:xfrm>
            <a:off x="720000" y="2160000"/>
            <a:ext cx="7920000" cy="594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ct val="150000"/>
              </a:lnSpc>
              <a:tabLst>
                <a:tab algn="l" pos="408240"/>
              </a:tabLst>
            </a:pP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Включает в себя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bfbfbf"/>
              </a:buClr>
              <a:buSzPct val="45000"/>
              <a:buFont typeface="Wingdings" charset="2"/>
              <a:buChar char=""/>
              <a:tabLst>
                <a:tab algn="l" pos="408240"/>
              </a:tabLst>
            </a:pPr>
            <a:r>
              <a:rPr b="1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Состояния 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bfbfbf"/>
              </a:buClr>
              <a:buSzPct val="45000"/>
              <a:buFont typeface="Wingdings" charset="2"/>
              <a:buChar char=""/>
              <a:tabLst>
                <a:tab algn="l" pos="408240"/>
              </a:tabLst>
            </a:pPr>
            <a:r>
              <a:rPr b="1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Входы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bfbfbf"/>
              </a:buClr>
              <a:buSzPct val="45000"/>
              <a:buFont typeface="Wingdings" charset="2"/>
              <a:buChar char=""/>
              <a:tabLst>
                <a:tab algn="l" pos="408240"/>
              </a:tabLst>
            </a:pPr>
            <a:r>
              <a:rPr b="1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Выходы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bfbfbf"/>
              </a:buClr>
              <a:buSzPct val="45000"/>
              <a:buFont typeface="Wingdings" charset="2"/>
              <a:buChar char=""/>
              <a:tabLst>
                <a:tab algn="l" pos="408240"/>
              </a:tabLst>
            </a:pP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Функции </a:t>
            </a:r>
            <a:r>
              <a:rPr b="1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переходов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bfbfbf"/>
              </a:buClr>
              <a:buSzPct val="45000"/>
              <a:buFont typeface="Wingdings" charset="2"/>
              <a:buChar char=""/>
              <a:tabLst>
                <a:tab algn="l" pos="408240"/>
              </a:tabLst>
            </a:pP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Функции </a:t>
            </a:r>
            <a:r>
              <a:rPr b="1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выходов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bfbfbf"/>
              </a:buClr>
              <a:buSzPct val="45000"/>
              <a:buFont typeface="Wingdings" charset="2"/>
              <a:buChar char=""/>
              <a:tabLst>
                <a:tab algn="l" pos="408240"/>
              </a:tabLst>
            </a:pPr>
            <a:r>
              <a:rPr b="1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Дискретное </a:t>
            </a: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время 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algn="l" pos="408240"/>
              </a:tabLst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dddddd"/>
              </a:buClr>
              <a:buSzPct val="45000"/>
              <a:buFont typeface="Wingdings" charset="2"/>
              <a:buChar char=""/>
              <a:tabLst>
                <a:tab algn="l" pos="408240"/>
              </a:tabLst>
            </a:pPr>
            <a:r>
              <a:rPr b="1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Начальное состояние</a:t>
            </a: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определяет </a:t>
            </a:r>
            <a:r>
              <a:rPr b="1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точку входа</a:t>
            </a: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в систему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dddddd"/>
              </a:buClr>
              <a:buSzPct val="45000"/>
              <a:buFont typeface="Wingdings" charset="2"/>
              <a:buChar char=""/>
              <a:tabLst>
                <a:tab algn="l" pos="408240"/>
              </a:tabLst>
            </a:pP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Функции </a:t>
            </a:r>
            <a:r>
              <a:rPr b="1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переходов</a:t>
            </a: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определяют следующее состояние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dddddd"/>
              </a:buClr>
              <a:buSzPct val="45000"/>
              <a:buFont typeface="Wingdings" charset="2"/>
              <a:buChar char=""/>
              <a:tabLst>
                <a:tab algn="l" pos="408240"/>
              </a:tabLst>
            </a:pP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Функции </a:t>
            </a:r>
            <a:r>
              <a:rPr b="1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выходов</a:t>
            </a: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определяют выходные  сигналы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8"/>
          <p:cNvSpPr/>
          <p:nvPr/>
        </p:nvSpPr>
        <p:spPr>
          <a:xfrm>
            <a:off x="8958960" y="2196360"/>
            <a:ext cx="488412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849"/>
              </a:lnSpc>
              <a:tabLst>
                <a:tab algn="l" pos="0"/>
              </a:tabLst>
            </a:pP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" name="Image 0" descr="preencoded.png"/>
          <p:cNvPicPr/>
          <p:nvPr/>
        </p:nvPicPr>
        <p:blipFill>
          <a:blip r:embed="rId1"/>
          <a:stretch/>
        </p:blipFill>
        <p:spPr>
          <a:xfrm>
            <a:off x="8958960" y="2160000"/>
            <a:ext cx="4884120" cy="2637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" name="Image 1" descr="preencoded.png"/>
          <p:cNvPicPr/>
          <p:nvPr/>
        </p:nvPicPr>
        <p:blipFill>
          <a:blip r:embed="rId2"/>
          <a:stretch/>
        </p:blipFill>
        <p:spPr>
          <a:xfrm>
            <a:off x="8958960" y="5425200"/>
            <a:ext cx="4884120" cy="105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"/>
          <p:cNvSpPr/>
          <p:nvPr/>
        </p:nvSpPr>
        <p:spPr>
          <a:xfrm>
            <a:off x="12830400" y="7689600"/>
            <a:ext cx="1799640" cy="539640"/>
          </a:xfrm>
          <a:prstGeom prst="rect">
            <a:avLst/>
          </a:prstGeom>
          <a:solidFill>
            <a:srgbClr val="1f1f1f"/>
          </a:solidFill>
          <a:ln w="0">
            <a:solidFill>
              <a:srgbClr val="1f1f1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mc:AlternateContent>
        <mc:Choice xmlns:a14="http://schemas.microsoft.com/office/drawing/2010/main" Requires="a14">
          <p:sp>
            <p:nvSpPr>
              <p:cNvPr id="60" name=""/>
              <p:cNvSpPr txBox="1"/>
              <p:nvPr/>
            </p:nvSpPr>
            <p:spPr>
              <a:xfrm>
                <a:off x="2520000" y="2700000"/>
                <a:ext cx="2199240" cy="382680"/>
              </a:xfrm>
              <a:prstGeom prst="rect">
                <a:avLst/>
              </a:prstGeom>
            </p:spPr>
            <p:txBody>
              <a:bodyPr/>
              <a:p>
                <a14:m>
                  <m:oMath xmlns:m="http://schemas.openxmlformats.org/officeDocument/2006/math">
                    <m:r>
                      <m:t xml:space="preserve">{</m:t>
                    </m:r>
                    <m:sSub>
                      <m:e>
                        <m:r>
                          <m:t xml:space="preserve">a</m:t>
                        </m:r>
                      </m:e>
                      <m:sub>
                        <m:r>
                          <m:t xml:space="preserve">1</m:t>
                        </m:r>
                      </m:sub>
                    </m:sSub>
                    <m:r>
                      <m:t xml:space="preserve">,</m:t>
                    </m:r>
                    <m:r>
                      <m:t xml:space="preserve">...</m:t>
                    </m:r>
                    <m:r>
                      <m:t xml:space="preserve">,</m:t>
                    </m:r>
                    <m:sSub>
                      <m:e>
                        <m:r>
                          <m:t xml:space="preserve">a</m:t>
                        </m:r>
                      </m:e>
                      <m:sub>
                        <m:r>
                          <m:t xml:space="preserve">m</m:t>
                        </m:r>
                      </m:sub>
                    </m:sSub>
                    <m:r>
                      <m:t xml:space="preserve">,</m:t>
                    </m:r>
                    <m:r>
                      <m:t xml:space="preserve">...</m:t>
                    </m:r>
                    <m:r>
                      <m:t xml:space="preserve">,</m:t>
                    </m:r>
                    <m:sSub>
                      <m:e>
                        <m:r>
                          <m:t xml:space="preserve">a</m:t>
                        </m:r>
                      </m:e>
                      <m:sub>
                        <m:r>
                          <m:t xml:space="preserve">M</m:t>
                        </m:r>
                      </m:sub>
                    </m:sSub>
                    <m:r>
                      <m:t xml:space="preserve">}</m:t>
                    </m:r>
                  </m:oMath>
                </a14:m>
              </a:p>
            </p:txBody>
          </p:sp>
        </mc:Choice>
        <mc:Fallback>
          <p:sp>
            <p:nvSpPr>
              <p:cNvPr id="60" name=""/>
              <p:cNvSpPr txBox="1"/>
              <p:nvPr/>
            </p:nvSpPr>
            <p:spPr>
              <a:xfrm>
                <a:off x="2520000" y="2700000"/>
                <a:ext cx="2199240" cy="3826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</p:sp>
        </mc:Fallback>
      </mc:AlternateContent>
      <mc:AlternateContent>
        <mc:Choice xmlns:a14="http://schemas.microsoft.com/office/drawing/2010/main" Requires="a14">
          <p:sp>
            <p:nvSpPr>
              <p:cNvPr id="61" name=""/>
              <p:cNvSpPr txBox="1"/>
              <p:nvPr/>
            </p:nvSpPr>
            <p:spPr>
              <a:xfrm>
                <a:off x="2520000" y="3217320"/>
                <a:ext cx="2062800" cy="382680"/>
              </a:xfrm>
              <a:prstGeom prst="rect">
                <a:avLst/>
              </a:prstGeom>
            </p:spPr>
            <p:txBody>
              <a:bodyPr/>
              <a:p>
                <a14:m>
                  <m:oMath xmlns:m="http://schemas.openxmlformats.org/officeDocument/2006/math">
                    <m:r>
                      <m:t xml:space="preserve">{</m:t>
                    </m:r>
                    <m:sSub>
                      <m:e>
                        <m:r>
                          <m:t xml:space="preserve">z</m:t>
                        </m:r>
                      </m:e>
                      <m:sub>
                        <m:r>
                          <m:t xml:space="preserve">1</m:t>
                        </m:r>
                      </m:sub>
                    </m:sSub>
                    <m:r>
                      <m:t xml:space="preserve">,</m:t>
                    </m:r>
                    <m:r>
                      <m:t xml:space="preserve">...</m:t>
                    </m:r>
                    <m:r>
                      <m:t xml:space="preserve">,</m:t>
                    </m:r>
                    <m:sSub>
                      <m:e>
                        <m:r>
                          <m:t xml:space="preserve">z</m:t>
                        </m:r>
                      </m:e>
                      <m:sub>
                        <m:r>
                          <m:t xml:space="preserve">f</m:t>
                        </m:r>
                      </m:sub>
                    </m:sSub>
                    <m:r>
                      <m:t xml:space="preserve">,</m:t>
                    </m:r>
                    <m:r>
                      <m:t xml:space="preserve">...</m:t>
                    </m:r>
                    <m:r>
                      <m:t xml:space="preserve">,</m:t>
                    </m:r>
                    <m:sSub>
                      <m:e>
                        <m:r>
                          <m:t xml:space="preserve">z</m:t>
                        </m:r>
                      </m:e>
                      <m:sub>
                        <m:r>
                          <m:t xml:space="preserve">F</m:t>
                        </m:r>
                      </m:sub>
                    </m:sSub>
                    <m:r>
                      <m:t xml:space="preserve">}</m:t>
                    </m:r>
                  </m:oMath>
                </a14:m>
              </a:p>
            </p:txBody>
          </p:sp>
        </mc:Choice>
        <mc:Fallback>
          <p:sp>
            <p:nvSpPr>
              <p:cNvPr id="61" name=""/>
              <p:cNvSpPr txBox="1"/>
              <p:nvPr/>
            </p:nvSpPr>
            <p:spPr>
              <a:xfrm>
                <a:off x="2520000" y="3217320"/>
                <a:ext cx="2062800" cy="38268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</p:sp>
        </mc:Fallback>
      </mc:AlternateContent>
      <mc:AlternateContent>
        <mc:Choice xmlns:a14="http://schemas.microsoft.com/office/drawing/2010/main" Requires="a14">
          <p:sp>
            <p:nvSpPr>
              <p:cNvPr id="62" name=""/>
              <p:cNvSpPr txBox="1"/>
              <p:nvPr/>
            </p:nvSpPr>
            <p:spPr>
              <a:xfrm>
                <a:off x="3794400" y="4193640"/>
                <a:ext cx="2271600" cy="306360"/>
              </a:xfrm>
              <a:prstGeom prst="rect">
                <a:avLst/>
              </a:prstGeom>
            </p:spPr>
            <p:txBody>
              <a:bodyPr/>
              <a:p>
                <a14:m>
                  <m:oMath xmlns:m="http://schemas.openxmlformats.org/officeDocument/2006/math">
                    <m:r>
                      <m:t xml:space="preserve">a</m:t>
                    </m:r>
                    <m:d>
                      <m:dPr>
                        <m:begChr m:val="("/>
                        <m:endChr m:val=")"/>
                      </m:dPr>
                      <m:e>
                        <m:r>
                          <m:t xml:space="preserve">t</m:t>
                        </m:r>
                        <m:r>
                          <m:t xml:space="preserve">+</m:t>
                        </m:r>
                        <m:r>
                          <m:t xml:space="preserve">1</m:t>
                        </m:r>
                      </m:e>
                    </m:d>
                    <m:r>
                      <m:t xml:space="preserve">=</m:t>
                    </m:r>
                    <m:r>
                      <m:t xml:space="preserve">δ</m:t>
                    </m:r>
                    <m:d>
                      <m:dPr>
                        <m:begChr m:val="("/>
                        <m:endChr m:val=")"/>
                      </m:dPr>
                      <m:e>
                        <m:r>
                          <m:t xml:space="preserve">a</m:t>
                        </m:r>
                        <m:d>
                          <m:dPr>
                            <m:begChr m:val="("/>
                            <m:endChr m:val=")"/>
                          </m:dPr>
                          <m:e>
                            <m:r>
                              <m:t xml:space="preserve">t</m:t>
                            </m:r>
                          </m:e>
                        </m:d>
                        <m:r>
                          <m:t xml:space="preserve">,</m:t>
                        </m:r>
                        <m:r>
                          <m:t xml:space="preserve">z</m:t>
                        </m:r>
                        <m:d>
                          <m:dPr>
                            <m:begChr m:val="("/>
                            <m:endChr m:val=")"/>
                          </m:dPr>
                          <m:e>
                            <m:r>
                              <m:t xml:space="preserve">t</m:t>
                            </m:r>
                          </m:e>
                        </m:d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62" name=""/>
              <p:cNvSpPr txBox="1"/>
              <p:nvPr/>
            </p:nvSpPr>
            <p:spPr>
              <a:xfrm>
                <a:off x="3794400" y="4193640"/>
                <a:ext cx="2271600" cy="3063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</p:sp>
        </mc:Fallback>
      </mc:AlternateContent>
      <mc:AlternateContent>
        <mc:Choice xmlns:a14="http://schemas.microsoft.com/office/drawing/2010/main" Requires="a14">
          <p:sp>
            <p:nvSpPr>
              <p:cNvPr id="63" name=""/>
              <p:cNvSpPr txBox="1"/>
              <p:nvPr/>
            </p:nvSpPr>
            <p:spPr>
              <a:xfrm>
                <a:off x="2520000" y="3705120"/>
                <a:ext cx="2309760" cy="382680"/>
              </a:xfrm>
              <a:prstGeom prst="rect">
                <a:avLst/>
              </a:prstGeom>
            </p:spPr>
            <p:txBody>
              <a:bodyPr/>
              <a:p>
                <a14:m>
                  <m:oMath xmlns:m="http://schemas.openxmlformats.org/officeDocument/2006/math">
                    <m:r>
                      <m:t xml:space="preserve">{</m:t>
                    </m:r>
                    <m:sSub>
                      <m:e>
                        <m:r>
                          <m:t xml:space="preserve">w</m:t>
                        </m:r>
                      </m:e>
                      <m:sub>
                        <m:r>
                          <m:t xml:space="preserve">1</m:t>
                        </m:r>
                      </m:sub>
                    </m:sSub>
                    <m:r>
                      <m:t xml:space="preserve">,</m:t>
                    </m:r>
                    <m:r>
                      <m:t xml:space="preserve">...</m:t>
                    </m:r>
                    <m:r>
                      <m:t xml:space="preserve">,</m:t>
                    </m:r>
                    <m:sSub>
                      <m:e>
                        <m:r>
                          <m:t xml:space="preserve">w</m:t>
                        </m:r>
                      </m:e>
                      <m:sub>
                        <m:r>
                          <m:t xml:space="preserve">g</m:t>
                        </m:r>
                      </m:sub>
                    </m:sSub>
                    <m:r>
                      <m:t xml:space="preserve">,</m:t>
                    </m:r>
                    <m:r>
                      <m:t xml:space="preserve">...</m:t>
                    </m:r>
                    <m:r>
                      <m:t xml:space="preserve">,</m:t>
                    </m:r>
                    <m:sSub>
                      <m:e>
                        <m:r>
                          <m:t xml:space="preserve">w</m:t>
                        </m:r>
                      </m:e>
                      <m:sub>
                        <m:r>
                          <m:t xml:space="preserve">G</m:t>
                        </m:r>
                      </m:sub>
                    </m:sSub>
                    <m:r>
                      <m:t xml:space="preserve">}</m:t>
                    </m:r>
                  </m:oMath>
                </a14:m>
              </a:p>
            </p:txBody>
          </p:sp>
        </mc:Choice>
        <mc:Fallback>
          <p:sp>
            <p:nvSpPr>
              <p:cNvPr id="63" name=""/>
              <p:cNvSpPr txBox="1"/>
              <p:nvPr/>
            </p:nvSpPr>
            <p:spPr>
              <a:xfrm>
                <a:off x="2520000" y="3705120"/>
                <a:ext cx="2309760" cy="38268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</p:sp>
        </mc:Fallback>
      </mc:AlternateContent>
      <mc:AlternateContent>
        <mc:Choice xmlns:a14="http://schemas.microsoft.com/office/drawing/2010/main" Requires="a14">
          <p:sp>
            <p:nvSpPr>
              <p:cNvPr id="64" name=""/>
              <p:cNvSpPr txBox="1"/>
              <p:nvPr/>
            </p:nvSpPr>
            <p:spPr>
              <a:xfrm>
                <a:off x="3780000" y="4577760"/>
                <a:ext cx="136080" cy="282240"/>
              </a:xfrm>
              <a:prstGeom prst="rect">
                <a:avLst/>
              </a:prstGeom>
            </p:spPr>
            <p:txBody>
              <a:bodyPr/>
              <a:p>
                <a14:m>
                  <m:oMath xmlns:m="http://schemas.openxmlformats.org/officeDocument/2006/math">
                    <m:r>
                      <m:t xml:space="preserve">λ</m:t>
                    </m:r>
                  </m:oMath>
                </a14:m>
              </a:p>
            </p:txBody>
          </p:sp>
        </mc:Choice>
        <mc:Fallback>
          <p:sp>
            <p:nvSpPr>
              <p:cNvPr id="64" name=""/>
              <p:cNvSpPr txBox="1"/>
              <p:nvPr/>
            </p:nvSpPr>
            <p:spPr>
              <a:xfrm>
                <a:off x="3780000" y="4577760"/>
                <a:ext cx="136080" cy="28224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</p:sp>
        </mc:Fallback>
      </mc:AlternateContent>
      <mc:AlternateContent>
        <mc:Choice xmlns:a14="http://schemas.microsoft.com/office/drawing/2010/main" Requires="a14">
          <p:sp>
            <p:nvSpPr>
              <p:cNvPr id="65" name=""/>
              <p:cNvSpPr txBox="1"/>
              <p:nvPr/>
            </p:nvSpPr>
            <p:spPr>
              <a:xfrm>
                <a:off x="3780000" y="5040000"/>
                <a:ext cx="1624680" cy="298080"/>
              </a:xfrm>
              <a:prstGeom prst="rect">
                <a:avLst/>
              </a:prstGeom>
            </p:spPr>
            <p:txBody>
              <a:bodyPr/>
              <a:p>
                <a14:m>
                  <m:oMath xmlns:m="http://schemas.openxmlformats.org/officeDocument/2006/math">
                    <m:r>
                      <m:t xml:space="preserve">t</m:t>
                    </m:r>
                    <m:r>
                      <m:t xml:space="preserve">=</m:t>
                    </m:r>
                    <m:r>
                      <m:t xml:space="preserve">{</m:t>
                    </m:r>
                    <m:r>
                      <m:t xml:space="preserve">0</m:t>
                    </m:r>
                    <m:r>
                      <m:t xml:space="preserve">,</m:t>
                    </m:r>
                    <m:r>
                      <m:t xml:space="preserve">1</m:t>
                    </m:r>
                    <m:r>
                      <m:t xml:space="preserve">,</m:t>
                    </m:r>
                    <m:r>
                      <m:t xml:space="preserve">2</m:t>
                    </m:r>
                    <m:r>
                      <m:t xml:space="preserve">,</m:t>
                    </m:r>
                    <m:r>
                      <m:t xml:space="preserve">3</m:t>
                    </m:r>
                    <m:r>
                      <m:t xml:space="preserve">...</m:t>
                    </m:r>
                    <m:r>
                      <m:t xml:space="preserve">}</m:t>
                    </m:r>
                  </m:oMath>
                </a14:m>
              </a:p>
            </p:txBody>
          </p:sp>
        </mc:Choice>
        <mc:Fallback>
          <p:sp>
            <p:nvSpPr>
              <p:cNvPr id="65" name=""/>
              <p:cNvSpPr txBox="1"/>
              <p:nvPr/>
            </p:nvSpPr>
            <p:spPr>
              <a:xfrm>
                <a:off x="3780000" y="5040000"/>
                <a:ext cx="1624680" cy="29808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</p:sp>
        </mc:Fallback>
      </mc:AlternateContent>
      <p:sp>
        <p:nvSpPr>
          <p:cNvPr id="66" name=""/>
          <p:cNvSpPr/>
          <p:nvPr/>
        </p:nvSpPr>
        <p:spPr>
          <a:xfrm>
            <a:off x="720000" y="5760000"/>
            <a:ext cx="7920000" cy="0"/>
          </a:xfrm>
          <a:prstGeom prst="line">
            <a:avLst/>
          </a:prstGeom>
          <a:ln w="0">
            <a:solidFill>
              <a:srgbClr val="bfbfb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5485680" cy="822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ext 0"/>
          <p:cNvSpPr/>
          <p:nvPr/>
        </p:nvSpPr>
        <p:spPr>
          <a:xfrm>
            <a:off x="6125400" y="804600"/>
            <a:ext cx="7865640" cy="11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noAutofit/>
          </a:bodyPr>
          <a:p>
            <a:pPr algn="ctr">
              <a:lnSpc>
                <a:spcPts val="4450"/>
              </a:lnSpc>
              <a:tabLst>
                <a:tab algn="l" pos="0"/>
              </a:tabLst>
            </a:pPr>
            <a:r>
              <a:rPr b="0" lang="ru-RU" sz="4400" strike="noStrike" u="none">
                <a:solidFill>
                  <a:srgbClr val="fefefe"/>
                </a:solidFill>
                <a:effectLst/>
                <a:uFillTx/>
                <a:latin typeface="Instrument Sans Medium"/>
                <a:ea typeface="Instrument Sans Medium"/>
              </a:rPr>
              <a:t>Автомат Мура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1"/>
          <p:cNvSpPr/>
          <p:nvPr/>
        </p:nvSpPr>
        <p:spPr>
          <a:xfrm>
            <a:off x="6125400" y="2219040"/>
            <a:ext cx="3841200" cy="2948760"/>
          </a:xfrm>
          <a:prstGeom prst="roundRect">
            <a:avLst>
              <a:gd name="adj" fmla="val 928"/>
            </a:avLst>
          </a:prstGeom>
          <a:solidFill>
            <a:srgbClr val="3e3e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2"/>
          <p:cNvSpPr/>
          <p:nvPr/>
        </p:nvSpPr>
        <p:spPr>
          <a:xfrm>
            <a:off x="6307920" y="2401560"/>
            <a:ext cx="546840" cy="546840"/>
          </a:xfrm>
          <a:prstGeom prst="roundRect">
            <a:avLst>
              <a:gd name="adj" fmla="val 16697626"/>
            </a:avLst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3"/>
          <p:cNvSpPr/>
          <p:nvPr/>
        </p:nvSpPr>
        <p:spPr>
          <a:xfrm>
            <a:off x="6307920" y="3132000"/>
            <a:ext cx="3412080" cy="28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00"/>
              </a:lnSpc>
              <a:tabLst>
                <a:tab algn="l" pos="0"/>
              </a:tabLst>
            </a:pPr>
            <a:r>
              <a:rPr b="1" lang="ru-RU" sz="220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Стабильность выхода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4"/>
          <p:cNvSpPr/>
          <p:nvPr/>
        </p:nvSpPr>
        <p:spPr>
          <a:xfrm>
            <a:off x="6307920" y="3526560"/>
            <a:ext cx="3476160" cy="145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Выходно</a:t>
            </a: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Arial"/>
                <a:ea typeface="Open Sans"/>
              </a:rPr>
              <a:t>й</a:t>
            </a: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сигнал определяется исключительно текущим состоянием автомата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5"/>
          <p:cNvSpPr/>
          <p:nvPr/>
        </p:nvSpPr>
        <p:spPr>
          <a:xfrm>
            <a:off x="10150200" y="2217240"/>
            <a:ext cx="3841200" cy="2948760"/>
          </a:xfrm>
          <a:prstGeom prst="roundRect">
            <a:avLst>
              <a:gd name="adj" fmla="val 928"/>
            </a:avLst>
          </a:prstGeom>
          <a:solidFill>
            <a:srgbClr val="3e3e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6"/>
          <p:cNvSpPr/>
          <p:nvPr/>
        </p:nvSpPr>
        <p:spPr>
          <a:xfrm>
            <a:off x="10332000" y="2401560"/>
            <a:ext cx="546840" cy="546840"/>
          </a:xfrm>
          <a:prstGeom prst="roundRect">
            <a:avLst>
              <a:gd name="adj" fmla="val 16697626"/>
            </a:avLst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Image 2" descr="preencoded.png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0425960" y="2495520"/>
            <a:ext cx="359640" cy="3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ext 7"/>
          <p:cNvSpPr/>
          <p:nvPr/>
        </p:nvSpPr>
        <p:spPr>
          <a:xfrm>
            <a:off x="10368000" y="3132000"/>
            <a:ext cx="3491640" cy="28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00"/>
              </a:lnSpc>
              <a:tabLst>
                <a:tab algn="l" pos="0"/>
              </a:tabLst>
            </a:pPr>
            <a:r>
              <a:rPr b="1" lang="ru-RU" sz="220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Задержка в такт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8"/>
          <p:cNvSpPr/>
          <p:nvPr/>
        </p:nvSpPr>
        <p:spPr>
          <a:xfrm>
            <a:off x="10332000" y="3526560"/>
            <a:ext cx="3476160" cy="145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Изменения выхода только после перехода в новое состояние, обычно с задержко</a:t>
            </a: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Arial"/>
                <a:ea typeface="Open Sans"/>
              </a:rPr>
              <a:t>й </a:t>
            </a: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в один такт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9"/>
          <p:cNvSpPr/>
          <p:nvPr/>
        </p:nvSpPr>
        <p:spPr>
          <a:xfrm>
            <a:off x="6125400" y="5351400"/>
            <a:ext cx="7865640" cy="2388240"/>
          </a:xfrm>
          <a:prstGeom prst="roundRect">
            <a:avLst>
              <a:gd name="adj" fmla="val 1321"/>
            </a:avLst>
          </a:prstGeom>
          <a:solidFill>
            <a:srgbClr val="3e3e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10"/>
          <p:cNvSpPr/>
          <p:nvPr/>
        </p:nvSpPr>
        <p:spPr>
          <a:xfrm>
            <a:off x="6307920" y="5533920"/>
            <a:ext cx="546840" cy="546840"/>
          </a:xfrm>
          <a:prstGeom prst="roundRect">
            <a:avLst>
              <a:gd name="adj" fmla="val 16697626"/>
            </a:avLst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" name="Image 3" descr="preencoded.png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6401520" y="5627520"/>
            <a:ext cx="359640" cy="35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Text 11"/>
          <p:cNvSpPr/>
          <p:nvPr/>
        </p:nvSpPr>
        <p:spPr>
          <a:xfrm>
            <a:off x="7020000" y="5655240"/>
            <a:ext cx="6659640" cy="28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00"/>
              </a:lnSpc>
              <a:tabLst>
                <a:tab algn="l" pos="0"/>
              </a:tabLst>
            </a:pPr>
            <a:r>
              <a:rPr b="1" lang="ru-RU" sz="220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Пример: Светофор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2"/>
          <p:cNvSpPr/>
          <p:nvPr/>
        </p:nvSpPr>
        <p:spPr>
          <a:xfrm>
            <a:off x="6307920" y="6120000"/>
            <a:ext cx="7500600" cy="12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Классически пример — светофор, где сигнал зависит </a:t>
            </a:r>
            <a:r>
              <a:rPr b="0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исключительно</a:t>
            </a: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от текущего состояния светофора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12830400" y="7740000"/>
            <a:ext cx="1799640" cy="489240"/>
          </a:xfrm>
          <a:prstGeom prst="rect">
            <a:avLst/>
          </a:prstGeom>
          <a:solidFill>
            <a:srgbClr val="1f1f1f"/>
          </a:solidFill>
          <a:ln w="0">
            <a:solidFill>
              <a:srgbClr val="1f1f1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4" name="" descr=""/>
          <p:cNvPicPr/>
          <p:nvPr/>
        </p:nvPicPr>
        <p:blipFill>
          <a:blip r:embed="rId6"/>
          <a:stretch/>
        </p:blipFill>
        <p:spPr>
          <a:xfrm>
            <a:off x="6417000" y="2476440"/>
            <a:ext cx="327600" cy="396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 0"/>
          <p:cNvSpPr/>
          <p:nvPr/>
        </p:nvSpPr>
        <p:spPr>
          <a:xfrm>
            <a:off x="5040000" y="611280"/>
            <a:ext cx="8811720" cy="13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 anchorCtr="1">
            <a:noAutofit/>
          </a:bodyPr>
          <a:p>
            <a:pPr algn="ctr">
              <a:lnSpc>
                <a:spcPts val="5451"/>
              </a:lnSpc>
              <a:tabLst>
                <a:tab algn="l" pos="0"/>
              </a:tabLst>
            </a:pPr>
            <a:r>
              <a:rPr b="0" lang="ru-RU" sz="4350" strike="noStrike" u="none">
                <a:solidFill>
                  <a:srgbClr val="fefefe"/>
                </a:solidFill>
                <a:effectLst/>
                <a:uFillTx/>
                <a:latin typeface="Instrument Sans Medium"/>
                <a:ea typeface="Instrument Sans Medium"/>
              </a:rPr>
              <a:t>Автомат Мили</a:t>
            </a:r>
            <a:endParaRPr b="0" lang="ru-RU" sz="43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Image 0" descr="preencoded.png"/>
          <p:cNvPicPr/>
          <p:nvPr/>
        </p:nvPicPr>
        <p:blipFill>
          <a:blip r:embed="rId1"/>
          <a:srcRect l="26240" t="0" r="25632" b="0"/>
          <a:stretch/>
        </p:blipFill>
        <p:spPr>
          <a:xfrm>
            <a:off x="360" y="0"/>
            <a:ext cx="5039280" cy="822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"/>
          <p:cNvSpPr/>
          <p:nvPr/>
        </p:nvSpPr>
        <p:spPr>
          <a:xfrm>
            <a:off x="12830400" y="7683120"/>
            <a:ext cx="1799640" cy="539640"/>
          </a:xfrm>
          <a:prstGeom prst="rect">
            <a:avLst/>
          </a:prstGeom>
          <a:solidFill>
            <a:srgbClr val="1f1f1f"/>
          </a:solidFill>
          <a:ln w="0">
            <a:solidFill>
              <a:srgbClr val="1f1f1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4"/>
          <p:cNvSpPr/>
          <p:nvPr/>
        </p:nvSpPr>
        <p:spPr>
          <a:xfrm>
            <a:off x="6125400" y="2219400"/>
            <a:ext cx="3841200" cy="2948400"/>
          </a:xfrm>
          <a:prstGeom prst="roundRect">
            <a:avLst>
              <a:gd name="adj" fmla="val 928"/>
            </a:avLst>
          </a:prstGeom>
          <a:solidFill>
            <a:srgbClr val="3e3e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5"/>
          <p:cNvSpPr/>
          <p:nvPr/>
        </p:nvSpPr>
        <p:spPr>
          <a:xfrm>
            <a:off x="10150200" y="2219400"/>
            <a:ext cx="3841200" cy="2948760"/>
          </a:xfrm>
          <a:prstGeom prst="roundRect">
            <a:avLst>
              <a:gd name="adj" fmla="val 928"/>
            </a:avLst>
          </a:prstGeom>
          <a:solidFill>
            <a:srgbClr val="3e3e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19"/>
          <p:cNvSpPr/>
          <p:nvPr/>
        </p:nvSpPr>
        <p:spPr>
          <a:xfrm>
            <a:off x="6120000" y="5400000"/>
            <a:ext cx="7866000" cy="2386800"/>
          </a:xfrm>
          <a:prstGeom prst="roundRect">
            <a:avLst>
              <a:gd name="adj" fmla="val 1321"/>
            </a:avLst>
          </a:prstGeom>
          <a:solidFill>
            <a:srgbClr val="3e3e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20"/>
          <p:cNvSpPr/>
          <p:nvPr/>
        </p:nvSpPr>
        <p:spPr>
          <a:xfrm>
            <a:off x="6307560" y="2401560"/>
            <a:ext cx="546840" cy="546840"/>
          </a:xfrm>
          <a:prstGeom prst="roundRect">
            <a:avLst>
              <a:gd name="adj" fmla="val 16697626"/>
            </a:avLst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21"/>
          <p:cNvSpPr/>
          <p:nvPr/>
        </p:nvSpPr>
        <p:spPr>
          <a:xfrm>
            <a:off x="10332360" y="2401560"/>
            <a:ext cx="546840" cy="546840"/>
          </a:xfrm>
          <a:prstGeom prst="roundRect">
            <a:avLst>
              <a:gd name="adj" fmla="val 16697626"/>
            </a:avLst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22"/>
          <p:cNvSpPr/>
          <p:nvPr/>
        </p:nvSpPr>
        <p:spPr>
          <a:xfrm>
            <a:off x="6307560" y="5533560"/>
            <a:ext cx="546840" cy="546840"/>
          </a:xfrm>
          <a:prstGeom prst="roundRect">
            <a:avLst>
              <a:gd name="adj" fmla="val 16697626"/>
            </a:avLst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8"/>
          <p:cNvSpPr/>
          <p:nvPr/>
        </p:nvSpPr>
        <p:spPr>
          <a:xfrm>
            <a:off x="7020360" y="5655240"/>
            <a:ext cx="6659640" cy="28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00"/>
              </a:lnSpc>
              <a:tabLst>
                <a:tab algn="l" pos="0"/>
              </a:tabLst>
            </a:pPr>
            <a:r>
              <a:rPr b="1" lang="ru-RU" sz="220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Пример: Торговый автомат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22"/>
          <p:cNvSpPr/>
          <p:nvPr/>
        </p:nvSpPr>
        <p:spPr>
          <a:xfrm>
            <a:off x="6307920" y="3132000"/>
            <a:ext cx="3412080" cy="28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00"/>
              </a:lnSpc>
              <a:tabLst>
                <a:tab algn="l" pos="0"/>
              </a:tabLst>
            </a:pPr>
            <a:r>
              <a:rPr b="1" lang="ru-RU" sz="220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Мгновенная реакция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23"/>
          <p:cNvSpPr/>
          <p:nvPr/>
        </p:nvSpPr>
        <p:spPr>
          <a:xfrm>
            <a:off x="10368360" y="3132000"/>
            <a:ext cx="3491640" cy="28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200"/>
              </a:lnSpc>
              <a:tabLst>
                <a:tab algn="l" pos="0"/>
              </a:tabLst>
            </a:pPr>
            <a:r>
              <a:rPr b="1" lang="ru-RU" sz="220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Выходы и переходы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21"/>
          <p:cNvSpPr/>
          <p:nvPr/>
        </p:nvSpPr>
        <p:spPr>
          <a:xfrm>
            <a:off x="6307920" y="3526920"/>
            <a:ext cx="3476160" cy="145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Выходно</a:t>
            </a: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Arial"/>
                <a:ea typeface="Open Sans"/>
              </a:rPr>
              <a:t>й</a:t>
            </a: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сигнал изменяется </a:t>
            </a:r>
            <a:r>
              <a:rPr b="0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мгновенно</a:t>
            </a: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, так как выход зависит </a:t>
            </a:r>
            <a:r>
              <a:rPr b="0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и от состояния, и от входа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24"/>
          <p:cNvSpPr/>
          <p:nvPr/>
        </p:nvSpPr>
        <p:spPr>
          <a:xfrm>
            <a:off x="10332000" y="3526920"/>
            <a:ext cx="3476160" cy="145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Выходы </a:t>
            </a:r>
            <a:r>
              <a:rPr b="0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привязаны</a:t>
            </a: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к </a:t>
            </a:r>
            <a:r>
              <a:rPr b="0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переходам</a:t>
            </a: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между состояниями, а не к самим состояниям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Open Sans"/>
            </a:endParaRPr>
          </a:p>
        </p:txBody>
      </p:sp>
      <p:sp>
        <p:nvSpPr>
          <p:cNvPr id="99" name="Text 25"/>
          <p:cNvSpPr/>
          <p:nvPr/>
        </p:nvSpPr>
        <p:spPr>
          <a:xfrm>
            <a:off x="6308280" y="6120360"/>
            <a:ext cx="7500600" cy="12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Товар выдается (</a:t>
            </a:r>
            <a:r>
              <a:rPr b="0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выход</a:t>
            </a: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) в момент, когда есть определенная </a:t>
            </a:r>
            <a:r>
              <a:rPr b="0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комбинация состояния</a:t>
            </a: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(«внесена достаточная сумма») и </a:t>
            </a:r>
            <a:r>
              <a:rPr b="0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входа</a:t>
            </a: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(«нажата кнопка выбора товара»)</a:t>
            </a:r>
            <a:endParaRPr b="0" lang="ru-RU" sz="2000" strike="noStrike" u="none">
              <a:solidFill>
                <a:srgbClr val="bfbfbf"/>
              </a:solidFill>
              <a:effectLst/>
              <a:uFillTx/>
              <a:latin typeface="Arial"/>
            </a:endParaRPr>
          </a:p>
        </p:txBody>
      </p:sp>
      <p:pic>
        <p:nvPicPr>
          <p:cNvPr id="100" name="" descr=""/>
          <p:cNvPicPr/>
          <p:nvPr/>
        </p:nvPicPr>
        <p:blipFill>
          <a:blip r:embed="rId2"/>
          <a:stretch/>
        </p:blipFill>
        <p:spPr>
          <a:xfrm>
            <a:off x="6400800" y="5614200"/>
            <a:ext cx="360000" cy="385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1" name="" descr=""/>
          <p:cNvPicPr/>
          <p:nvPr/>
        </p:nvPicPr>
        <p:blipFill>
          <a:blip r:embed="rId3"/>
          <a:stretch/>
        </p:blipFill>
        <p:spPr>
          <a:xfrm>
            <a:off x="6400800" y="2505240"/>
            <a:ext cx="360000" cy="338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2" name="" descr=""/>
          <p:cNvPicPr/>
          <p:nvPr/>
        </p:nvPicPr>
        <p:blipFill>
          <a:blip r:embed="rId4"/>
          <a:stretch/>
        </p:blipFill>
        <p:spPr>
          <a:xfrm>
            <a:off x="10479600" y="2422800"/>
            <a:ext cx="252000" cy="504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 0"/>
          <p:cNvSpPr/>
          <p:nvPr/>
        </p:nvSpPr>
        <p:spPr>
          <a:xfrm>
            <a:off x="793800" y="914760"/>
            <a:ext cx="12179520" cy="7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 anchorCtr="1">
            <a:noAutofit/>
          </a:bodyPr>
          <a:p>
            <a:pPr algn="ctr">
              <a:lnSpc>
                <a:spcPts val="5550"/>
              </a:lnSpc>
              <a:tabLst>
                <a:tab algn="l" pos="0"/>
              </a:tabLst>
            </a:pPr>
            <a:r>
              <a:rPr b="0" lang="ru-RU" sz="4450" strike="noStrike" u="none">
                <a:solidFill>
                  <a:srgbClr val="fefefe"/>
                </a:solidFill>
                <a:effectLst/>
                <a:uFillTx/>
                <a:latin typeface="Instrument Sans Medium"/>
                <a:ea typeface="Instrument Sans Medium"/>
              </a:rPr>
              <a:t>Ключевые Отличия Автоматов Мура и Мили</a:t>
            </a:r>
            <a:endParaRPr b="0" lang="ru-RU" sz="44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1"/>
          <p:cNvSpPr/>
          <p:nvPr/>
        </p:nvSpPr>
        <p:spPr>
          <a:xfrm>
            <a:off x="793800" y="2643840"/>
            <a:ext cx="6407280" cy="1699920"/>
          </a:xfrm>
          <a:prstGeom prst="roundRect">
            <a:avLst>
              <a:gd name="adj" fmla="val 7170"/>
            </a:avLst>
          </a:prstGeom>
          <a:solidFill>
            <a:srgbClr val="1f1f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2"/>
          <p:cNvSpPr/>
          <p:nvPr/>
        </p:nvSpPr>
        <p:spPr>
          <a:xfrm>
            <a:off x="793800" y="2273400"/>
            <a:ext cx="6407280" cy="121320"/>
          </a:xfrm>
          <a:prstGeom prst="roundRect">
            <a:avLst>
              <a:gd name="adj" fmla="val 27907"/>
            </a:avLst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3"/>
          <p:cNvSpPr/>
          <p:nvPr/>
        </p:nvSpPr>
        <p:spPr>
          <a:xfrm>
            <a:off x="3657600" y="1963800"/>
            <a:ext cx="679680" cy="679680"/>
          </a:xfrm>
          <a:prstGeom prst="roundRect">
            <a:avLst>
              <a:gd name="adj" fmla="val 134383"/>
            </a:avLst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7" name="Image 0" descr="preencoded.png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3860280" y="2168280"/>
            <a:ext cx="271440" cy="2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Text 4"/>
          <p:cNvSpPr/>
          <p:nvPr/>
        </p:nvSpPr>
        <p:spPr>
          <a:xfrm>
            <a:off x="1051200" y="2871000"/>
            <a:ext cx="289080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750"/>
              </a:lnSpc>
              <a:tabLst>
                <a:tab algn="l" pos="0"/>
              </a:tabLst>
            </a:pPr>
            <a:r>
              <a:rPr b="0" lang="ru-RU" sz="220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Зависимость Выхода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5"/>
          <p:cNvSpPr/>
          <p:nvPr/>
        </p:nvSpPr>
        <p:spPr>
          <a:xfrm>
            <a:off x="1051200" y="3361320"/>
            <a:ext cx="5892480" cy="72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>
              <a:lnSpc>
                <a:spcPts val="2849"/>
              </a:lnSpc>
              <a:buClr>
                <a:srgbClr val="bfbfb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В </a:t>
            </a:r>
            <a:r>
              <a:rPr b="0" lang="ru-RU" sz="175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автомате Мура</a:t>
            </a: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выход зависит только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ts val="2849"/>
              </a:lnSpc>
              <a:buClr>
                <a:srgbClr val="bfbfb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В </a:t>
            </a:r>
            <a:r>
              <a:rPr b="0" lang="ru-RU" sz="175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автомате Мили</a:t>
            </a: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— от состояния и входа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7"/>
          <p:cNvSpPr/>
          <p:nvPr/>
        </p:nvSpPr>
        <p:spPr>
          <a:xfrm>
            <a:off x="7428600" y="2273400"/>
            <a:ext cx="6407280" cy="121320"/>
          </a:xfrm>
          <a:prstGeom prst="roundRect">
            <a:avLst>
              <a:gd name="adj" fmla="val 27907"/>
            </a:avLst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8"/>
          <p:cNvSpPr/>
          <p:nvPr/>
        </p:nvSpPr>
        <p:spPr>
          <a:xfrm>
            <a:off x="10299960" y="1963800"/>
            <a:ext cx="679680" cy="679680"/>
          </a:xfrm>
          <a:prstGeom prst="roundRect">
            <a:avLst>
              <a:gd name="adj" fmla="val 134383"/>
            </a:avLst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9"/>
          <p:cNvSpPr/>
          <p:nvPr/>
        </p:nvSpPr>
        <p:spPr>
          <a:xfrm>
            <a:off x="7686000" y="2871000"/>
            <a:ext cx="351324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750"/>
              </a:lnSpc>
              <a:tabLst>
                <a:tab algn="l" pos="0"/>
              </a:tabLst>
            </a:pPr>
            <a:r>
              <a:rPr b="0" lang="ru-RU" sz="220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Местоположение Выхода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0"/>
          <p:cNvSpPr/>
          <p:nvPr/>
        </p:nvSpPr>
        <p:spPr>
          <a:xfrm>
            <a:off x="7686000" y="3240000"/>
            <a:ext cx="5892840" cy="143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>
              <a:lnSpc>
                <a:spcPts val="2849"/>
              </a:lnSpc>
              <a:buClr>
                <a:srgbClr val="bfbfb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Выходы </a:t>
            </a:r>
            <a:r>
              <a:rPr b="0" lang="ru-RU" sz="175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автомата Мура</a:t>
            </a: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ассоциированы с состояниями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ts val="2849"/>
              </a:lnSpc>
              <a:buClr>
                <a:srgbClr val="bfbfb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Выходы </a:t>
            </a:r>
            <a:r>
              <a:rPr b="0" lang="ru-RU" sz="175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автомата Мили</a:t>
            </a: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— с переходами между состояниями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11"/>
          <p:cNvSpPr/>
          <p:nvPr/>
        </p:nvSpPr>
        <p:spPr>
          <a:xfrm>
            <a:off x="793800" y="5220000"/>
            <a:ext cx="6407280" cy="2094120"/>
          </a:xfrm>
          <a:prstGeom prst="roundRect">
            <a:avLst>
              <a:gd name="adj" fmla="val 6087"/>
            </a:avLst>
          </a:prstGeom>
          <a:solidFill>
            <a:srgbClr val="1f1f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2"/>
          <p:cNvSpPr/>
          <p:nvPr/>
        </p:nvSpPr>
        <p:spPr>
          <a:xfrm>
            <a:off x="793800" y="4880880"/>
            <a:ext cx="6407280" cy="121320"/>
          </a:xfrm>
          <a:prstGeom prst="roundRect">
            <a:avLst>
              <a:gd name="adj" fmla="val 27907"/>
            </a:avLst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13"/>
          <p:cNvSpPr/>
          <p:nvPr/>
        </p:nvSpPr>
        <p:spPr>
          <a:xfrm>
            <a:off x="3656160" y="4570560"/>
            <a:ext cx="679680" cy="679680"/>
          </a:xfrm>
          <a:prstGeom prst="roundRect">
            <a:avLst>
              <a:gd name="adj" fmla="val 134383"/>
            </a:avLst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4"/>
          <p:cNvSpPr/>
          <p:nvPr/>
        </p:nvSpPr>
        <p:spPr>
          <a:xfrm>
            <a:off x="1051200" y="5478480"/>
            <a:ext cx="283464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750"/>
              </a:lnSpc>
              <a:tabLst>
                <a:tab algn="l" pos="0"/>
              </a:tabLst>
            </a:pPr>
            <a:r>
              <a:rPr b="0" lang="ru-RU" sz="220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Задержка Реакции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5"/>
          <p:cNvSpPr/>
          <p:nvPr/>
        </p:nvSpPr>
        <p:spPr>
          <a:xfrm>
            <a:off x="1051200" y="5968800"/>
            <a:ext cx="5892480" cy="10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>
              <a:lnSpc>
                <a:spcPts val="2849"/>
              </a:lnSpc>
              <a:buClr>
                <a:srgbClr val="bfbfb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175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Автомат Мили</a:t>
            </a: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обеспечивает мгновенную реакцию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ts val="2849"/>
              </a:lnSpc>
              <a:buClr>
                <a:srgbClr val="bfbfb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В </a:t>
            </a:r>
            <a:r>
              <a:rPr b="0" lang="ru-RU" sz="175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автомате Мура</a:t>
            </a: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выход задерживается на такт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16"/>
          <p:cNvSpPr/>
          <p:nvPr/>
        </p:nvSpPr>
        <p:spPr>
          <a:xfrm>
            <a:off x="7428600" y="5251320"/>
            <a:ext cx="6407280" cy="2062800"/>
          </a:xfrm>
          <a:prstGeom prst="roundRect">
            <a:avLst>
              <a:gd name="adj" fmla="val 6087"/>
            </a:avLst>
          </a:prstGeom>
          <a:solidFill>
            <a:srgbClr val="1f1f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17"/>
          <p:cNvSpPr/>
          <p:nvPr/>
        </p:nvSpPr>
        <p:spPr>
          <a:xfrm>
            <a:off x="7428600" y="4880880"/>
            <a:ext cx="6407280" cy="121320"/>
          </a:xfrm>
          <a:prstGeom prst="roundRect">
            <a:avLst>
              <a:gd name="adj" fmla="val 27907"/>
            </a:avLst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18"/>
          <p:cNvSpPr/>
          <p:nvPr/>
        </p:nvSpPr>
        <p:spPr>
          <a:xfrm>
            <a:off x="10292400" y="4571280"/>
            <a:ext cx="679680" cy="679680"/>
          </a:xfrm>
          <a:prstGeom prst="roundRect">
            <a:avLst>
              <a:gd name="adj" fmla="val 134383"/>
            </a:avLst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9"/>
          <p:cNvSpPr/>
          <p:nvPr/>
        </p:nvSpPr>
        <p:spPr>
          <a:xfrm>
            <a:off x="7686000" y="5478480"/>
            <a:ext cx="283464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750"/>
              </a:lnSpc>
              <a:tabLst>
                <a:tab algn="l" pos="0"/>
              </a:tabLst>
            </a:pPr>
            <a:r>
              <a:rPr b="0" lang="ru-RU" sz="220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Преобразования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20"/>
          <p:cNvSpPr/>
          <p:nvPr/>
        </p:nvSpPr>
        <p:spPr>
          <a:xfrm>
            <a:off x="7686000" y="5968800"/>
            <a:ext cx="5892840" cy="10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>
              <a:lnSpc>
                <a:spcPct val="100000"/>
              </a:lnSpc>
              <a:buClr>
                <a:srgbClr val="bfbfbf"/>
              </a:buClr>
              <a:buSzPct val="45000"/>
              <a:buFont typeface="Wingdings" charset="2"/>
              <a:buChar char=""/>
              <a:tabLst>
                <a:tab algn="l" pos="408240"/>
              </a:tabLst>
            </a:pPr>
            <a:r>
              <a:rPr b="0" lang="ru-RU" sz="175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Автомат</a:t>
            </a: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</a:t>
            </a:r>
            <a:r>
              <a:rPr b="0" lang="ru-RU" sz="1750" strike="noStrike" u="none">
                <a:solidFill>
                  <a:srgbClr val="f5f547"/>
                </a:solidFill>
                <a:effectLst/>
                <a:uFillTx/>
                <a:latin typeface="Open Sans"/>
                <a:ea typeface="Segoe UI"/>
              </a:rPr>
              <a:t>Мили</a:t>
            </a: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может быть преобразован в </a:t>
            </a:r>
            <a:r>
              <a:rPr b="0" lang="ru-RU" sz="175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автомат Мура</a:t>
            </a: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и наоборот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"/>
          <p:cNvSpPr/>
          <p:nvPr/>
        </p:nvSpPr>
        <p:spPr>
          <a:xfrm>
            <a:off x="12830400" y="7689600"/>
            <a:ext cx="1799640" cy="539640"/>
          </a:xfrm>
          <a:prstGeom prst="rect">
            <a:avLst/>
          </a:prstGeom>
          <a:solidFill>
            <a:srgbClr val="1f1f1f"/>
          </a:solidFill>
          <a:ln w="0">
            <a:solidFill>
              <a:srgbClr val="1f1f1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5" name="" descr=""/>
          <p:cNvPicPr/>
          <p:nvPr/>
        </p:nvPicPr>
        <p:blipFill>
          <a:blip r:embed="rId3"/>
          <a:stretch/>
        </p:blipFill>
        <p:spPr>
          <a:xfrm>
            <a:off x="10450800" y="4730400"/>
            <a:ext cx="359640" cy="359640"/>
          </a:xfrm>
          <a:prstGeom prst="rect">
            <a:avLst/>
          </a:prstGeom>
          <a:solidFill>
            <a:srgbClr val="1f1f1f"/>
          </a:solidFill>
          <a:ln w="0">
            <a:noFill/>
          </a:ln>
        </p:spPr>
      </p:pic>
      <p:pic>
        <p:nvPicPr>
          <p:cNvPr id="126" name="" descr=""/>
          <p:cNvPicPr/>
          <p:nvPr/>
        </p:nvPicPr>
        <p:blipFill>
          <a:blip r:embed="rId4"/>
          <a:stretch/>
        </p:blipFill>
        <p:spPr>
          <a:xfrm>
            <a:off x="10506600" y="2124000"/>
            <a:ext cx="269640" cy="359640"/>
          </a:xfrm>
          <a:prstGeom prst="rect">
            <a:avLst/>
          </a:prstGeom>
          <a:solidFill>
            <a:srgbClr val="1f1f1f"/>
          </a:solidFill>
          <a:ln w="0">
            <a:noFill/>
          </a:ln>
        </p:spPr>
      </p:pic>
      <p:pic>
        <p:nvPicPr>
          <p:cNvPr id="127" name="" descr=""/>
          <p:cNvPicPr/>
          <p:nvPr/>
        </p:nvPicPr>
        <p:blipFill>
          <a:blip r:embed="rId5"/>
          <a:stretch/>
        </p:blipFill>
        <p:spPr>
          <a:xfrm>
            <a:off x="3816000" y="4705200"/>
            <a:ext cx="359640" cy="410040"/>
          </a:xfrm>
          <a:prstGeom prst="rect">
            <a:avLst/>
          </a:prstGeom>
          <a:solidFill>
            <a:srgbClr val="1f1f1f"/>
          </a:solidFill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Text 0"/>
          <p:cNvSpPr/>
          <p:nvPr/>
        </p:nvSpPr>
        <p:spPr>
          <a:xfrm>
            <a:off x="1440000" y="540000"/>
            <a:ext cx="6702480" cy="59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 anchorCtr="1">
            <a:noAutofit/>
          </a:bodyPr>
          <a:p>
            <a:pPr algn="ctr">
              <a:lnSpc>
                <a:spcPts val="4649"/>
              </a:lnSpc>
              <a:tabLst>
                <a:tab algn="l" pos="0"/>
              </a:tabLst>
            </a:pPr>
            <a:r>
              <a:rPr b="0" lang="ru-RU" sz="4400" strike="noStrike" u="none">
                <a:solidFill>
                  <a:srgbClr val="fefefe"/>
                </a:solidFill>
                <a:effectLst/>
                <a:uFillTx/>
                <a:latin typeface="Instrument Sans Medium"/>
                <a:ea typeface="Instrument Sans Medium"/>
              </a:rPr>
              <a:t>Графическое Представление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1"/>
          <p:cNvSpPr/>
          <p:nvPr/>
        </p:nvSpPr>
        <p:spPr>
          <a:xfrm>
            <a:off x="2711880" y="1621800"/>
            <a:ext cx="285588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 anchorCtr="1">
            <a:noAutofit/>
          </a:bodyPr>
          <a:p>
            <a:pPr algn="ctr">
              <a:lnSpc>
                <a:spcPts val="2801"/>
              </a:lnSpc>
              <a:tabLst>
                <a:tab algn="l" pos="0"/>
              </a:tabLst>
            </a:pPr>
            <a:r>
              <a:rPr b="1" lang="ru-RU" sz="3200" strike="noStrike" u="none">
                <a:solidFill>
                  <a:srgbClr val="f5f547"/>
                </a:solidFill>
                <a:effectLst/>
                <a:uFillTx/>
                <a:latin typeface="Instrument Sans Medium"/>
                <a:ea typeface="Instrument Sans Medium"/>
              </a:rPr>
              <a:t>Автомат Мура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2"/>
          <p:cNvSpPr/>
          <p:nvPr/>
        </p:nvSpPr>
        <p:spPr>
          <a:xfrm>
            <a:off x="1980000" y="2160000"/>
            <a:ext cx="5039640" cy="170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ts val="2350"/>
              </a:lnSpc>
              <a:tabLst>
                <a:tab algn="l" pos="0"/>
              </a:tabLst>
            </a:pP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Круги — выходные сигналы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Стрелки — переходы между состояниями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1" name="Image 0" descr="preencoded.png"/>
          <p:cNvPicPr/>
          <p:nvPr/>
        </p:nvPicPr>
        <p:blipFill>
          <a:blip r:embed="rId1"/>
          <a:stretch/>
        </p:blipFill>
        <p:spPr>
          <a:xfrm>
            <a:off x="1980000" y="3960000"/>
            <a:ext cx="4319640" cy="388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2" name="Text 3"/>
          <p:cNvSpPr/>
          <p:nvPr/>
        </p:nvSpPr>
        <p:spPr>
          <a:xfrm>
            <a:off x="9191880" y="1621800"/>
            <a:ext cx="2855880" cy="3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 anchorCtr="1">
            <a:noAutofit/>
          </a:bodyPr>
          <a:p>
            <a:pPr algn="ctr">
              <a:lnSpc>
                <a:spcPts val="2801"/>
              </a:lnSpc>
              <a:tabLst>
                <a:tab algn="l" pos="0"/>
              </a:tabLst>
            </a:pPr>
            <a:r>
              <a:rPr b="1" lang="ru-RU" sz="3200" strike="noStrike" u="none">
                <a:solidFill>
                  <a:srgbClr val="f5f547"/>
                </a:solidFill>
                <a:effectLst/>
                <a:uFillTx/>
                <a:latin typeface="Instrument Sans Medium"/>
                <a:ea typeface="Instrument Sans Medium"/>
              </a:rPr>
              <a:t>Автомат Мили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4"/>
          <p:cNvSpPr/>
          <p:nvPr/>
        </p:nvSpPr>
        <p:spPr>
          <a:xfrm>
            <a:off x="7920000" y="2160000"/>
            <a:ext cx="557964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Стрелки — переходы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tabLst>
                <a:tab algn="l" pos="0"/>
              </a:tabLst>
            </a:pP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На каждом ребре пара "вход/выход"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4" name="Image 1" descr="preencoded.png"/>
          <p:cNvPicPr/>
          <p:nvPr/>
        </p:nvPicPr>
        <p:blipFill>
          <a:blip r:embed="rId2"/>
          <a:stretch/>
        </p:blipFill>
        <p:spPr>
          <a:xfrm>
            <a:off x="7964280" y="3960000"/>
            <a:ext cx="5355360" cy="3189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" name=""/>
          <p:cNvSpPr/>
          <p:nvPr/>
        </p:nvSpPr>
        <p:spPr>
          <a:xfrm>
            <a:off x="12871440" y="7689600"/>
            <a:ext cx="1758600" cy="539640"/>
          </a:xfrm>
          <a:prstGeom prst="rect">
            <a:avLst/>
          </a:prstGeom>
          <a:solidFill>
            <a:srgbClr val="1f1f1f"/>
          </a:solidFill>
          <a:ln w="0">
            <a:solidFill>
              <a:srgbClr val="1f1f1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"/>
          <p:cNvSpPr/>
          <p:nvPr/>
        </p:nvSpPr>
        <p:spPr>
          <a:xfrm>
            <a:off x="1980000" y="2160000"/>
            <a:ext cx="4320000" cy="360"/>
          </a:xfrm>
          <a:prstGeom prst="line">
            <a:avLst/>
          </a:prstGeom>
          <a:ln w="0">
            <a:solidFill>
              <a:srgbClr val="bfbfb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"/>
          <p:cNvSpPr/>
          <p:nvPr/>
        </p:nvSpPr>
        <p:spPr>
          <a:xfrm>
            <a:off x="7920000" y="2160000"/>
            <a:ext cx="5400000" cy="360"/>
          </a:xfrm>
          <a:prstGeom prst="line">
            <a:avLst/>
          </a:prstGeom>
          <a:ln w="0">
            <a:solidFill>
              <a:srgbClr val="bfbfb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 0"/>
          <p:cNvSpPr/>
          <p:nvPr/>
        </p:nvSpPr>
        <p:spPr>
          <a:xfrm>
            <a:off x="790200" y="622080"/>
            <a:ext cx="13049280" cy="14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5550"/>
              </a:lnSpc>
              <a:tabLst>
                <a:tab algn="l" pos="0"/>
              </a:tabLst>
            </a:pPr>
            <a:r>
              <a:rPr b="0" lang="ru-RU" sz="4450" strike="noStrike" u="none">
                <a:solidFill>
                  <a:srgbClr val="fefefe"/>
                </a:solidFill>
                <a:effectLst/>
                <a:uFillTx/>
                <a:latin typeface="Instrument Sans Medium"/>
                <a:ea typeface="Instrument Sans Medium"/>
              </a:rPr>
              <a:t>Пример: </a:t>
            </a:r>
            <a:r>
              <a:rPr b="0" lang="ru-RU" sz="4450" strike="noStrike" u="none">
                <a:solidFill>
                  <a:srgbClr val="f5f547"/>
                </a:solidFill>
                <a:effectLst/>
                <a:uFillTx/>
                <a:latin typeface="Instrument Sans Medium"/>
                <a:ea typeface="Instrument Sans Medium"/>
              </a:rPr>
              <a:t>Автомат Мура</a:t>
            </a:r>
            <a:r>
              <a:rPr b="0" lang="ru-RU" sz="4450" strike="noStrike" u="none">
                <a:solidFill>
                  <a:srgbClr val="fefefe"/>
                </a:solidFill>
                <a:effectLst/>
                <a:uFillTx/>
                <a:latin typeface="Instrument Sans Medium"/>
                <a:ea typeface="Instrument Sans Medium"/>
              </a:rPr>
              <a:t>, регулирующий пешеходный переход</a:t>
            </a:r>
            <a:endParaRPr b="0" lang="ru-RU" sz="44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"/>
          <p:cNvSpPr/>
          <p:nvPr/>
        </p:nvSpPr>
        <p:spPr>
          <a:xfrm>
            <a:off x="790200" y="2484720"/>
            <a:ext cx="225000" cy="28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801"/>
              </a:lnSpc>
              <a:tabLst>
                <a:tab algn="l" pos="0"/>
              </a:tabLst>
            </a:pP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Instrument Sans Light"/>
                <a:ea typeface="Instrument Sans Light"/>
              </a:rPr>
              <a:t>01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2"/>
          <p:cNvSpPr/>
          <p:nvPr/>
        </p:nvSpPr>
        <p:spPr>
          <a:xfrm>
            <a:off x="790200" y="2838240"/>
            <a:ext cx="4198680" cy="29880"/>
          </a:xfrm>
          <a:prstGeom prst="rect">
            <a:avLst/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4400" bIns="-144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3"/>
          <p:cNvSpPr/>
          <p:nvPr/>
        </p:nvSpPr>
        <p:spPr>
          <a:xfrm>
            <a:off x="790200" y="3011760"/>
            <a:ext cx="424944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750"/>
              </a:lnSpc>
              <a:tabLst>
                <a:tab algn="l" pos="0"/>
              </a:tabLst>
            </a:pPr>
            <a:r>
              <a:rPr b="1" lang="ru-RU" sz="220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Исходное Состояние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4"/>
          <p:cNvSpPr/>
          <p:nvPr/>
        </p:nvSpPr>
        <p:spPr>
          <a:xfrm>
            <a:off x="790200" y="3499920"/>
            <a:ext cx="4198680" cy="154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5000"/>
              </a:lnSpc>
            </a:pP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Зелены</a:t>
            </a:r>
            <a:r>
              <a:rPr b="1" lang="ru-RU" sz="2100" strike="noStrike" u="none">
                <a:solidFill>
                  <a:srgbClr val="bfbfbf"/>
                </a:solidFill>
                <a:effectLst/>
                <a:uFillTx/>
                <a:latin typeface="Arial"/>
                <a:ea typeface="Open Sans"/>
              </a:rPr>
              <a:t>й</a:t>
            </a: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свет для транспорта, красны</a:t>
            </a:r>
            <a:r>
              <a:rPr b="1" lang="ru-RU" sz="2100" strike="noStrike" u="none">
                <a:solidFill>
                  <a:srgbClr val="bfbfbf"/>
                </a:solidFill>
                <a:effectLst/>
                <a:uFillTx/>
                <a:latin typeface="Arial"/>
                <a:ea typeface="Open Sans"/>
              </a:rPr>
              <a:t>й</a:t>
            </a: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для пешеходов. Движение автомобиле</a:t>
            </a:r>
            <a:r>
              <a:rPr b="1" lang="ru-RU" sz="2100" strike="noStrike" u="none">
                <a:solidFill>
                  <a:srgbClr val="bfbfbf"/>
                </a:solidFill>
                <a:effectLst/>
                <a:uFillTx/>
                <a:latin typeface="Arial"/>
                <a:ea typeface="Open Sans"/>
              </a:rPr>
              <a:t>й</a:t>
            </a: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разрешено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  <p:sp>
        <p:nvSpPr>
          <p:cNvPr id="143" name="Text 5"/>
          <p:cNvSpPr/>
          <p:nvPr/>
        </p:nvSpPr>
        <p:spPr>
          <a:xfrm>
            <a:off x="5215320" y="2484720"/>
            <a:ext cx="225000" cy="28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801"/>
              </a:lnSpc>
              <a:tabLst>
                <a:tab algn="l" pos="0"/>
              </a:tabLst>
            </a:pP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Instrument Sans Light"/>
                <a:ea typeface="Instrument Sans Light"/>
              </a:rPr>
              <a:t>02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6"/>
          <p:cNvSpPr/>
          <p:nvPr/>
        </p:nvSpPr>
        <p:spPr>
          <a:xfrm>
            <a:off x="5215320" y="2838240"/>
            <a:ext cx="4198680" cy="29880"/>
          </a:xfrm>
          <a:prstGeom prst="rect">
            <a:avLst/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4400" bIns="-144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7"/>
          <p:cNvSpPr/>
          <p:nvPr/>
        </p:nvSpPr>
        <p:spPr>
          <a:xfrm>
            <a:off x="5215320" y="3011760"/>
            <a:ext cx="414432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750"/>
              </a:lnSpc>
              <a:tabLst>
                <a:tab algn="l" pos="0"/>
              </a:tabLst>
            </a:pPr>
            <a:r>
              <a:rPr b="1" lang="ru-RU" sz="220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Запрос Пешехода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8"/>
          <p:cNvSpPr/>
          <p:nvPr/>
        </p:nvSpPr>
        <p:spPr>
          <a:xfrm>
            <a:off x="5215320" y="3499920"/>
            <a:ext cx="4198680" cy="154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Пешеход нажимает кнопку вызова. Автомат регистрирует запрос, но не меняет состояние немедленно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  <p:sp>
        <p:nvSpPr>
          <p:cNvPr id="147" name="Text 9"/>
          <p:cNvSpPr/>
          <p:nvPr/>
        </p:nvSpPr>
        <p:spPr>
          <a:xfrm>
            <a:off x="9640440" y="2484720"/>
            <a:ext cx="225000" cy="28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801"/>
              </a:lnSpc>
              <a:tabLst>
                <a:tab algn="l" pos="0"/>
              </a:tabLst>
            </a:pP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Instrument Sans Light"/>
                <a:ea typeface="Instrument Sans Light"/>
              </a:rPr>
              <a:t>03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10"/>
          <p:cNvSpPr/>
          <p:nvPr/>
        </p:nvSpPr>
        <p:spPr>
          <a:xfrm>
            <a:off x="9640440" y="2838240"/>
            <a:ext cx="4198680" cy="29880"/>
          </a:xfrm>
          <a:prstGeom prst="rect">
            <a:avLst/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4400" bIns="-144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1"/>
          <p:cNvSpPr/>
          <p:nvPr/>
        </p:nvSpPr>
        <p:spPr>
          <a:xfrm>
            <a:off x="9640440" y="3011760"/>
            <a:ext cx="421920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750"/>
              </a:lnSpc>
              <a:tabLst>
                <a:tab algn="l" pos="0"/>
              </a:tabLst>
            </a:pPr>
            <a:r>
              <a:rPr b="1" lang="ru-RU" sz="220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Переключение на Желтый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2"/>
          <p:cNvSpPr/>
          <p:nvPr/>
        </p:nvSpPr>
        <p:spPr>
          <a:xfrm>
            <a:off x="9640440" y="3499920"/>
            <a:ext cx="4198680" cy="154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5000"/>
              </a:lnSpc>
            </a:pP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После определенного та</a:t>
            </a: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Arial"/>
                <a:ea typeface="Open Sans"/>
              </a:rPr>
              <a:t>й</a:t>
            </a: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м-аута или завершения цикла движения транспорта, светофор переключается на желты</a:t>
            </a: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Arial"/>
                <a:ea typeface="Open Sans"/>
              </a:rPr>
              <a:t>й</a:t>
            </a: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для автомобиле</a:t>
            </a: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Arial"/>
                <a:ea typeface="Open Sans"/>
              </a:rPr>
              <a:t>й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3"/>
          <p:cNvSpPr/>
          <p:nvPr/>
        </p:nvSpPr>
        <p:spPr>
          <a:xfrm>
            <a:off x="790200" y="5339520"/>
            <a:ext cx="225000" cy="28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801"/>
              </a:lnSpc>
              <a:tabLst>
                <a:tab algn="l" pos="0"/>
              </a:tabLst>
            </a:pP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Instrument Sans Light"/>
                <a:ea typeface="Instrument Sans Light"/>
              </a:rPr>
              <a:t>04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14"/>
          <p:cNvSpPr/>
          <p:nvPr/>
        </p:nvSpPr>
        <p:spPr>
          <a:xfrm>
            <a:off x="790200" y="5692680"/>
            <a:ext cx="6411240" cy="29880"/>
          </a:xfrm>
          <a:prstGeom prst="rect">
            <a:avLst/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4400" bIns="-144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5"/>
          <p:cNvSpPr/>
          <p:nvPr/>
        </p:nvSpPr>
        <p:spPr>
          <a:xfrm>
            <a:off x="790200" y="5866560"/>
            <a:ext cx="640944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750"/>
              </a:lnSpc>
              <a:tabLst>
                <a:tab algn="l" pos="0"/>
              </a:tabLst>
            </a:pPr>
            <a:r>
              <a:rPr b="1" lang="ru-RU" sz="220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Зеленый для Пешеходов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6"/>
          <p:cNvSpPr/>
          <p:nvPr/>
        </p:nvSpPr>
        <p:spPr>
          <a:xfrm>
            <a:off x="790200" y="6354720"/>
            <a:ext cx="6411240" cy="10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5000"/>
              </a:lnSpc>
            </a:pP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Красны</a:t>
            </a: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Arial"/>
                <a:ea typeface="Open Sans"/>
              </a:rPr>
              <a:t>й</a:t>
            </a: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для транспорта, зелены</a:t>
            </a: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Arial"/>
                <a:ea typeface="Open Sans"/>
              </a:rPr>
              <a:t>й</a:t>
            </a: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для пешеходов. Выходно</a:t>
            </a: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Arial"/>
                <a:ea typeface="Open Sans"/>
              </a:rPr>
              <a:t>й</a:t>
            </a:r>
            <a:r>
              <a:rPr b="1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 сигнал полностью определяется этим новым состоянием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7"/>
          <p:cNvSpPr/>
          <p:nvPr/>
        </p:nvSpPr>
        <p:spPr>
          <a:xfrm>
            <a:off x="7428240" y="5339520"/>
            <a:ext cx="225000" cy="28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801"/>
              </a:lnSpc>
              <a:tabLst>
                <a:tab algn="l" pos="0"/>
              </a:tabLst>
            </a:pPr>
            <a:r>
              <a:rPr b="0" lang="ru-RU" sz="1750" strike="noStrike" u="none">
                <a:solidFill>
                  <a:srgbClr val="bfbfbf"/>
                </a:solidFill>
                <a:effectLst/>
                <a:uFillTx/>
                <a:latin typeface="Instrument Sans Light"/>
                <a:ea typeface="Instrument Sans Light"/>
              </a:rPr>
              <a:t>05</a:t>
            </a: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18"/>
          <p:cNvSpPr/>
          <p:nvPr/>
        </p:nvSpPr>
        <p:spPr>
          <a:xfrm>
            <a:off x="7428240" y="5692680"/>
            <a:ext cx="6411240" cy="29880"/>
          </a:xfrm>
          <a:prstGeom prst="rect">
            <a:avLst/>
          </a:prstGeom>
          <a:solidFill>
            <a:srgbClr val="f5f54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4400" bIns="-144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9"/>
          <p:cNvSpPr/>
          <p:nvPr/>
        </p:nvSpPr>
        <p:spPr>
          <a:xfrm>
            <a:off x="7428240" y="5866560"/>
            <a:ext cx="643140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750"/>
              </a:lnSpc>
              <a:tabLst>
                <a:tab algn="l" pos="0"/>
              </a:tabLst>
            </a:pPr>
            <a:r>
              <a:rPr b="1" lang="ru-RU" sz="220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Возврат к Исходному</a:t>
            </a:r>
            <a:endParaRPr b="0" lang="ru-RU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20"/>
          <p:cNvSpPr/>
          <p:nvPr/>
        </p:nvSpPr>
        <p:spPr>
          <a:xfrm>
            <a:off x="7428240" y="6354720"/>
            <a:ext cx="6411240" cy="10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Через заданное время светофор возвращается в исходное состояние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"/>
          <p:cNvSpPr/>
          <p:nvPr/>
        </p:nvSpPr>
        <p:spPr>
          <a:xfrm>
            <a:off x="12780000" y="7740000"/>
            <a:ext cx="1850040" cy="489240"/>
          </a:xfrm>
          <a:prstGeom prst="rect">
            <a:avLst/>
          </a:prstGeom>
          <a:solidFill>
            <a:srgbClr val="1f1f1f"/>
          </a:solidFill>
          <a:ln w="0">
            <a:solidFill>
              <a:srgbClr val="1f1f1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Text 0"/>
          <p:cNvSpPr/>
          <p:nvPr/>
        </p:nvSpPr>
        <p:spPr>
          <a:xfrm>
            <a:off x="793800" y="1110960"/>
            <a:ext cx="1304208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5550"/>
              </a:lnSpc>
              <a:tabLst>
                <a:tab algn="l" pos="0"/>
              </a:tabLst>
            </a:pPr>
            <a:r>
              <a:rPr b="0" lang="ru-RU" sz="4450" strike="noStrike" u="none">
                <a:solidFill>
                  <a:srgbClr val="fefefe"/>
                </a:solidFill>
                <a:effectLst/>
                <a:uFillTx/>
                <a:latin typeface="Instrument Sans Medium"/>
                <a:ea typeface="Instrument Sans Medium"/>
              </a:rPr>
              <a:t>Применение в Цифровой Технике и Программировании</a:t>
            </a:r>
            <a:endParaRPr b="0" lang="ru-RU" sz="44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"/>
          <p:cNvSpPr/>
          <p:nvPr/>
        </p:nvSpPr>
        <p:spPr>
          <a:xfrm>
            <a:off x="720000" y="4500000"/>
            <a:ext cx="431964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 anchorCtr="1">
            <a:noAutofit/>
          </a:bodyPr>
          <a:p>
            <a:pPr algn="ctr">
              <a:lnSpc>
                <a:spcPts val="2750"/>
              </a:lnSpc>
              <a:tabLst>
                <a:tab algn="l" pos="0"/>
              </a:tabLst>
            </a:pPr>
            <a:r>
              <a:rPr b="1" lang="ru-RU" sz="280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Микроконтроллеры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2"/>
          <p:cNvSpPr/>
          <p:nvPr/>
        </p:nvSpPr>
        <p:spPr>
          <a:xfrm>
            <a:off x="793800" y="5040000"/>
            <a:ext cx="4158000" cy="21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just">
              <a:lnSpc>
                <a:spcPct val="150000"/>
              </a:lnSpc>
              <a:tabLst>
                <a:tab algn="l" pos="408240"/>
              </a:tabLst>
            </a:pP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Для проектирования аппаратных блоков в ПЛИС и микроконтроллерах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3"/>
          <p:cNvSpPr/>
          <p:nvPr/>
        </p:nvSpPr>
        <p:spPr>
          <a:xfrm>
            <a:off x="5040000" y="4506120"/>
            <a:ext cx="449964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 anchorCtr="1">
            <a:noAutofit/>
          </a:bodyPr>
          <a:p>
            <a:pPr algn="ctr">
              <a:lnSpc>
                <a:spcPts val="2750"/>
              </a:lnSpc>
              <a:tabLst>
                <a:tab algn="l" pos="0"/>
              </a:tabLst>
            </a:pPr>
            <a:r>
              <a:rPr b="1" lang="ru-RU" sz="240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Робототехника и АСУ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4"/>
          <p:cNvSpPr/>
          <p:nvPr/>
        </p:nvSpPr>
        <p:spPr>
          <a:xfrm>
            <a:off x="5235840" y="5040000"/>
            <a:ext cx="4158000" cy="18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ru-RU" sz="21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Моделирование поведения роботов и управляющих систем</a:t>
            </a:r>
            <a:endParaRPr b="0" lang="ru-RU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5"/>
          <p:cNvSpPr/>
          <p:nvPr/>
        </p:nvSpPr>
        <p:spPr>
          <a:xfrm>
            <a:off x="9540000" y="4506120"/>
            <a:ext cx="431964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 anchorCtr="1">
            <a:noAutofit/>
          </a:bodyPr>
          <a:p>
            <a:pPr algn="ctr">
              <a:lnSpc>
                <a:spcPts val="2750"/>
              </a:lnSpc>
              <a:tabLst>
                <a:tab algn="l" pos="0"/>
              </a:tabLst>
            </a:pPr>
            <a:r>
              <a:rPr b="1" lang="ru-RU" sz="240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Разработка ПО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6"/>
          <p:cNvSpPr/>
          <p:nvPr/>
        </p:nvSpPr>
        <p:spPr>
          <a:xfrm>
            <a:off x="9677880" y="5040000"/>
            <a:ext cx="4158000" cy="217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Для парсинга, управления состояниями UI и реализации протоколов связи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7"/>
          <p:cNvSpPr/>
          <p:nvPr/>
        </p:nvSpPr>
        <p:spPr>
          <a:xfrm>
            <a:off x="793800" y="6755760"/>
            <a:ext cx="130420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849"/>
              </a:lnSpc>
              <a:tabLst>
                <a:tab algn="l" pos="0"/>
              </a:tabLst>
            </a:pP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"/>
          <p:cNvSpPr/>
          <p:nvPr/>
        </p:nvSpPr>
        <p:spPr>
          <a:xfrm>
            <a:off x="12780000" y="7560000"/>
            <a:ext cx="1799640" cy="539640"/>
          </a:xfrm>
          <a:prstGeom prst="rect">
            <a:avLst/>
          </a:prstGeom>
          <a:solidFill>
            <a:srgbClr val="1f1f1f"/>
          </a:solidFill>
          <a:ln w="0">
            <a:solidFill>
              <a:srgbClr val="1f1f1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9" name="" descr=""/>
          <p:cNvPicPr/>
          <p:nvPr/>
        </p:nvPicPr>
        <p:blipFill>
          <a:blip r:embed="rId1"/>
          <a:stretch/>
        </p:blipFill>
        <p:spPr>
          <a:xfrm>
            <a:off x="2340000" y="3060000"/>
            <a:ext cx="899640" cy="1259640"/>
          </a:xfrm>
          <a:prstGeom prst="rect">
            <a:avLst/>
          </a:prstGeom>
          <a:solidFill>
            <a:srgbClr val="1f1f1f"/>
          </a:solidFill>
          <a:ln w="0">
            <a:noFill/>
          </a:ln>
        </p:spPr>
      </p:pic>
      <p:sp>
        <p:nvSpPr>
          <p:cNvPr id="170" name=""/>
          <p:cNvSpPr/>
          <p:nvPr/>
        </p:nvSpPr>
        <p:spPr>
          <a:xfrm>
            <a:off x="9540000" y="4485960"/>
            <a:ext cx="360" cy="1994040"/>
          </a:xfrm>
          <a:prstGeom prst="line">
            <a:avLst/>
          </a:prstGeom>
          <a:ln w="0">
            <a:solidFill>
              <a:srgbClr val="bfbfb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"/>
          <p:cNvSpPr/>
          <p:nvPr/>
        </p:nvSpPr>
        <p:spPr>
          <a:xfrm>
            <a:off x="5040000" y="4500000"/>
            <a:ext cx="360" cy="1994040"/>
          </a:xfrm>
          <a:prstGeom prst="line">
            <a:avLst/>
          </a:prstGeom>
          <a:ln w="0">
            <a:solidFill>
              <a:srgbClr val="bfbfb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2" name="" descr=""/>
          <p:cNvPicPr/>
          <p:nvPr/>
        </p:nvPicPr>
        <p:blipFill>
          <a:blip r:embed="rId2"/>
          <a:stretch/>
        </p:blipFill>
        <p:spPr>
          <a:xfrm>
            <a:off x="6703200" y="3060000"/>
            <a:ext cx="1349640" cy="1079640"/>
          </a:xfrm>
          <a:prstGeom prst="rect">
            <a:avLst/>
          </a:prstGeom>
          <a:solidFill>
            <a:srgbClr val="1f1f1f"/>
          </a:solidFill>
          <a:ln w="0">
            <a:noFill/>
          </a:ln>
        </p:spPr>
      </p:pic>
      <p:pic>
        <p:nvPicPr>
          <p:cNvPr id="173" name="" descr=""/>
          <p:cNvPicPr/>
          <p:nvPr/>
        </p:nvPicPr>
        <p:blipFill>
          <a:blip r:embed="rId3"/>
          <a:stretch/>
        </p:blipFill>
        <p:spPr>
          <a:xfrm>
            <a:off x="11160000" y="3060000"/>
            <a:ext cx="1259640" cy="1259640"/>
          </a:xfrm>
          <a:prstGeom prst="rect">
            <a:avLst/>
          </a:prstGeom>
          <a:solidFill>
            <a:srgbClr val="1f1f1f"/>
          </a:solidFill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Image 0" descr="preencoded.png"/>
          <p:cNvPicPr/>
          <p:nvPr/>
        </p:nvPicPr>
        <p:blipFill>
          <a:blip r:embed="rId1"/>
          <a:stretch/>
        </p:blipFill>
        <p:spPr>
          <a:xfrm>
            <a:off x="9144000" y="0"/>
            <a:ext cx="5485680" cy="822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" name="Text 0"/>
          <p:cNvSpPr/>
          <p:nvPr/>
        </p:nvSpPr>
        <p:spPr>
          <a:xfrm>
            <a:off x="793800" y="680040"/>
            <a:ext cx="755568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5550"/>
              </a:lnSpc>
              <a:tabLst>
                <a:tab algn="l" pos="0"/>
              </a:tabLst>
            </a:pPr>
            <a:r>
              <a:rPr b="0" lang="ru-RU" sz="4450" strike="noStrike" u="none">
                <a:solidFill>
                  <a:srgbClr val="fefefe"/>
                </a:solidFill>
                <a:effectLst/>
                <a:uFillTx/>
                <a:latin typeface="Instrument Sans Medium"/>
                <a:ea typeface="Instrument Sans Medium"/>
              </a:rPr>
              <a:t>Заключение: Выбор Автомата для Задачи</a:t>
            </a:r>
            <a:endParaRPr b="0" lang="ru-RU" sz="44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1"/>
          <p:cNvSpPr/>
          <p:nvPr/>
        </p:nvSpPr>
        <p:spPr>
          <a:xfrm>
            <a:off x="793800" y="2437920"/>
            <a:ext cx="509760" cy="50976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2"/>
          <p:cNvSpPr/>
          <p:nvPr/>
        </p:nvSpPr>
        <p:spPr>
          <a:xfrm>
            <a:off x="878760" y="2480400"/>
            <a:ext cx="339480" cy="42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ts val="2650"/>
              </a:lnSpc>
              <a:tabLst>
                <a:tab algn="l" pos="0"/>
              </a:tabLst>
            </a:pPr>
            <a:r>
              <a:rPr b="0" lang="ru-RU" sz="265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1</a:t>
            </a:r>
            <a:endParaRPr b="0" lang="ru-RU" sz="26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3"/>
          <p:cNvSpPr/>
          <p:nvPr/>
        </p:nvSpPr>
        <p:spPr>
          <a:xfrm>
            <a:off x="1531080" y="2515680"/>
            <a:ext cx="283464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849"/>
              </a:lnSpc>
              <a:tabLst>
                <a:tab algn="l" pos="0"/>
              </a:tabLst>
            </a:pPr>
            <a:r>
              <a:rPr b="0" lang="ru-RU" sz="24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Автомат Мили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4"/>
          <p:cNvSpPr/>
          <p:nvPr/>
        </p:nvSpPr>
        <p:spPr>
          <a:xfrm>
            <a:off x="1531080" y="3006360"/>
            <a:ext cx="6818760" cy="14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ts val="2849"/>
              </a:lnSpc>
              <a:spcBef>
                <a:spcPts val="850"/>
              </a:spcBef>
              <a:spcAft>
                <a:spcPts val="850"/>
              </a:spcAft>
              <a:tabLst>
                <a:tab algn="l" pos="0"/>
              </a:tabLst>
            </a:pP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Идеален для сценариев, где требуется: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ts val="2849"/>
              </a:lnSpc>
              <a:spcBef>
                <a:spcPts val="850"/>
              </a:spcBef>
              <a:spcAft>
                <a:spcPts val="850"/>
              </a:spcAft>
              <a:buClr>
                <a:srgbClr val="bfbfb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Мгновенная реакция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ts val="2849"/>
              </a:lnSpc>
              <a:spcBef>
                <a:spcPts val="850"/>
              </a:spcBef>
              <a:spcAft>
                <a:spcPts val="850"/>
              </a:spcAft>
              <a:buClr>
                <a:srgbClr val="bfbfb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Минимальная задержка вывода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5"/>
          <p:cNvSpPr/>
          <p:nvPr/>
        </p:nvSpPr>
        <p:spPr>
          <a:xfrm>
            <a:off x="793800" y="4911480"/>
            <a:ext cx="509760" cy="509760"/>
          </a:xfrm>
          <a:prstGeom prst="roundRect">
            <a:avLst>
              <a:gd name="adj" fmla="val 6667"/>
            </a:avLst>
          </a:prstGeom>
          <a:solidFill>
            <a:srgbClr val="3e3e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6"/>
          <p:cNvSpPr/>
          <p:nvPr/>
        </p:nvSpPr>
        <p:spPr>
          <a:xfrm>
            <a:off x="878760" y="4953960"/>
            <a:ext cx="339480" cy="42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 algn="ctr">
              <a:lnSpc>
                <a:spcPts val="2650"/>
              </a:lnSpc>
              <a:tabLst>
                <a:tab algn="l" pos="0"/>
              </a:tabLst>
            </a:pPr>
            <a:r>
              <a:rPr b="0" lang="ru-RU" sz="2650" strike="noStrike" u="none">
                <a:solidFill>
                  <a:srgbClr val="bfbfbf"/>
                </a:solidFill>
                <a:effectLst/>
                <a:uFillTx/>
                <a:latin typeface="Instrument Sans Medium"/>
                <a:ea typeface="Instrument Sans Medium"/>
              </a:rPr>
              <a:t>2</a:t>
            </a:r>
            <a:endParaRPr b="0" lang="ru-RU" sz="26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7"/>
          <p:cNvSpPr/>
          <p:nvPr/>
        </p:nvSpPr>
        <p:spPr>
          <a:xfrm>
            <a:off x="1531080" y="4989240"/>
            <a:ext cx="2834640" cy="35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849"/>
              </a:lnSpc>
              <a:tabLst>
                <a:tab algn="l" pos="0"/>
              </a:tabLst>
            </a:pPr>
            <a:r>
              <a:rPr b="0" lang="ru-RU" sz="24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Автомат Мура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8"/>
          <p:cNvSpPr/>
          <p:nvPr/>
        </p:nvSpPr>
        <p:spPr>
          <a:xfrm>
            <a:off x="1531080" y="5479560"/>
            <a:ext cx="6818760" cy="14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spcBef>
                <a:spcPts val="1134"/>
              </a:spcBef>
              <a:spcAft>
                <a:spcPts val="1134"/>
              </a:spcAft>
              <a:tabLst>
                <a:tab algn="l" pos="0"/>
              </a:tabLst>
            </a:pPr>
            <a:r>
              <a:rPr b="0" lang="ru-RU" sz="2000" strike="noStrike" u="none">
                <a:solidFill>
                  <a:srgbClr val="bfbfbf"/>
                </a:solidFill>
                <a:effectLst/>
                <a:uFillTx/>
                <a:latin typeface="Open Sans"/>
                <a:ea typeface="Open Sans"/>
              </a:rPr>
              <a:t>Предпочтителен, где важна: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34"/>
              </a:spcBef>
              <a:spcAft>
                <a:spcPts val="1134"/>
              </a:spcAft>
              <a:buClr>
                <a:srgbClr val="bfbfb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Стабильность выходных сигналов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34"/>
              </a:spcBef>
              <a:spcAft>
                <a:spcPts val="1134"/>
              </a:spcAft>
              <a:buClr>
                <a:srgbClr val="bfbfbf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ru-RU" sz="2000" strike="noStrike" u="none">
                <a:solidFill>
                  <a:srgbClr val="f5f547"/>
                </a:solidFill>
                <a:effectLst/>
                <a:uFillTx/>
                <a:latin typeface="Open Sans"/>
                <a:ea typeface="Open Sans"/>
              </a:rPr>
              <a:t>Простота описания логики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9"/>
          <p:cNvSpPr/>
          <p:nvPr/>
        </p:nvSpPr>
        <p:spPr>
          <a:xfrm>
            <a:off x="793800" y="7186320"/>
            <a:ext cx="7555680" cy="36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noAutofit/>
          </a:bodyPr>
          <a:p>
            <a:pPr>
              <a:lnSpc>
                <a:spcPts val="2849"/>
              </a:lnSpc>
              <a:tabLst>
                <a:tab algn="l" pos="0"/>
              </a:tabLst>
            </a:pPr>
            <a:endParaRPr b="0" lang="ru-RU" sz="17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2571</TotalTime>
  <Application>LibreOffice/25.8.3.2$Windows_X86_64 LibreOffice_project/8ca8d55c161d602844f5428fa4b58097424e324e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2025-12-12T07:35:52Z</dcterms:created>
  <dc:creator/>
  <dc:description/>
  <dc:language>ru-RU</dc:language>
  <cp:lastModifiedBy/>
  <dcterms:modified xsi:type="dcterms:W3CDTF">2025-12-14T15:57:58Z</dcterms:modified>
  <cp:revision>162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9</vt:i4>
  </property>
  <property fmtid="{D5CDD505-2E9C-101B-9397-08002B2CF9AE}" pid="3" name="PresentationFormat">
    <vt:lpwstr>On-screen Show (16:9)</vt:lpwstr>
  </property>
  <property fmtid="{D5CDD505-2E9C-101B-9397-08002B2CF9AE}" pid="4" name="Slides">
    <vt:i4>9</vt:i4>
  </property>
</Properties>
</file>